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42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微软雅黑"/>
              </a:defRPr>
            </a:pPr>
            <a:r>
              <a:t>TraceAid 链善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CCFBF1"/>
                </a:solidFill>
                <a:latin typeface="微软雅黑"/>
              </a:defRPr>
            </a:pPr>
            <a:r>
              <a:t>公益资金透明化平台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E8DC"/>
                </a:solidFill>
                <a:latin typeface="微软雅黑"/>
              </a:defRPr>
            </a:pPr>
            <a:r>
              <a:t>让每一分钱都有迹可循 · 让每一份爱心不再被寡负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FBF1"/>
                </a:solidFill>
                <a:latin typeface="微软雅黑"/>
              </a:defRPr>
            </a:pPr>
            <a:r>
              <a:t>2026 年 7 月 · 路演团队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公益行业三大信任危机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515600" cy="1280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微软雅黑"/>
              </a:defRPr>
            </a:pPr>
            <a:r>
              <a:t>🔍  资金去向不透明</a:t>
            </a:r>
            <a:br/>
            <a:r>
              <a:t>    捐款进入基金会后，资金流向难以追踪。</a:t>
            </a:r>
            <a:br/>
            <a:r>
              <a:t>    捐赠人无法验证“我的钱去哪儿了”。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10515600" cy="1280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375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微软雅黑"/>
              </a:defRPr>
            </a:pPr>
            <a:r>
              <a:t>🛡️  受助方身份核验难</a:t>
            </a:r>
            <a:br/>
            <a:r>
              <a:t>    身份真实性与隐私保护之间的矛盾，</a:t>
            </a:r>
            <a:br/>
            <a:r>
              <a:t>    现有方案依赖线下核查，效率低下。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754880"/>
            <a:ext cx="10515600" cy="1280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微软雅黑"/>
              </a:defRPr>
            </a:pPr>
            <a:r>
              <a:t>⛓️  资金拨付缺乏约束</a:t>
            </a:r>
            <a:br/>
            <a:r>
              <a:t>    缺乏自动化约束机制，</a:t>
            </a:r>
            <a:br/>
            <a:r>
              <a:t>    “钱到位了项目没做”或反之时有发生。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微软雅黑"/>
              </a:defRPr>
            </a:pPr>
            <a:r>
              <a:t>传统公益平台的“透明化”仍停留在定期公布财务报表层面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TraceAid 解决方案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256032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D9488"/>
                </a:solidFill>
                <a:latin typeface="微软雅黑"/>
              </a:defRPr>
            </a:pPr>
            <a:r>
              <a:t>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9488"/>
                </a:solidFill>
                <a:latin typeface="微软雅黑"/>
              </a:defRPr>
            </a:pPr>
            <a:r>
              <a:t>区块链记账凭证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捐款进入后按 1:1 比例铸造链上凭证</a:t>
            </a:r>
            <a:br/>
            <a:r>
              <a:t>资金流向全链路公开可查，实时可验证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554480"/>
            <a:ext cx="256032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17373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D9488"/>
                </a:solidFill>
                <a:latin typeface="微软雅黑"/>
              </a:defRPr>
            </a:pPr>
            <a: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9488"/>
                </a:solidFill>
                <a:latin typeface="微软雅黑"/>
              </a:defRPr>
            </a:pPr>
            <a:r>
              <a:t>零知识证明核验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301752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受助方上传凭证时通过 ZK 流程核验真伪</a:t>
            </a:r>
            <a:br/>
            <a:r>
              <a:t>核验通过后哈希上链，原始隐私材料不外泄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256032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373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D9488"/>
                </a:solidFill>
                <a:latin typeface="微软雅黑"/>
              </a:defRPr>
            </a:pPr>
            <a: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9488"/>
                </a:solidFill>
                <a:latin typeface="微软雅黑"/>
              </a:defRPr>
            </a:pPr>
            <a:r>
              <a:t>智能合约自动拨款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1752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按预设里程碑自动释放资金</a:t>
            </a:r>
            <a:br/>
            <a:r>
              <a:t>杠绝人为干预和资金挪用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554480"/>
            <a:ext cx="256032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73736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D9488"/>
                </a:solidFill>
                <a:latin typeface="微软雅黑"/>
              </a:defRPr>
            </a:pPr>
            <a:r>
              <a:t>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D9488"/>
                </a:solidFill>
                <a:latin typeface="微软雅黑"/>
              </a:defRPr>
            </a:pPr>
            <a:r>
              <a:t>NFT 公益证书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1752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每笔捐赠自动铸造为 ERC-721 标准证书</a:t>
            </a:r>
            <a:br/>
            <a:r>
              <a:t>不可箭改、不可交易、永久存证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产品架构：双端覆盖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303520" cy="4572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766E"/>
                </a:solidFill>
                <a:latin typeface="微软雅黑"/>
              </a:defRPr>
            </a:pPr>
            <a:r>
              <a:t>B 端管理后台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数据看板 · 核心 KPI 可视化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项目管理 · 全生命周期追踪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多签审批工作流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ZK 凭证核验流程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异常检测面板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800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反馈中心 · 审批规则设置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303520" cy="4572000"/>
          </a:xfrm>
          <a:prstGeom prst="rect">
            <a:avLst/>
          </a:prstGeom>
          <a:solidFill>
            <a:srgbClr val="F5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7C3AED"/>
                </a:solidFill>
                <a:latin typeface="微软雅黑"/>
              </a:defRPr>
            </a:pPr>
            <a:r>
              <a:t>C 端用户平台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公益项目浏览与详情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三步捐款流程 · 上链确认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2918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链上凭证 · TxHash + 区块高度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NFT 捐赠证书系统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活动照片与进展追踪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800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 区块链透明化科普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市场机会与竞争格局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微软雅黑"/>
              </a:defRPr>
            </a:pPr>
            <a:r>
              <a:t>市场规模</a:t>
            </a:r>
            <a:br/>
            <a:br/>
            <a:r>
              <a:t>2024 年互联网公益募捞总额</a:t>
            </a:r>
            <a:br/>
            <a:r>
              <a:t>约 480 亿元</a:t>
            </a:r>
            <a:br/>
            <a:br/>
            <a:r>
              <a:t>预计 2027 年达 800 亿元</a:t>
            </a:r>
            <a:br/>
            <a:r>
              <a:t>年均复合增长率 ~18%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280160"/>
            <a:ext cx="5486400" cy="2286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目标用户</a:t>
            </a:r>
            <a:br/>
            <a:br/>
            <a:r>
              <a:t>• 个人捐赠者（25-45 岁，科技素养高）</a:t>
            </a:r>
            <a:br/>
            <a:r>
              <a:t>• 企业 CSR 部门（年预算 100-1000 万）</a:t>
            </a:r>
            <a:br/>
            <a:r>
              <a:t>• 中小型公益基金会</a:t>
            </a:r>
            <a:br/>
            <a:r>
              <a:t>• 校园公益组织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9488"/>
                </a:solidFill>
                <a:latin typeface="微软雅黑"/>
              </a:defRPr>
            </a:pPr>
            <a:r>
              <a:t>竞品对比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371600" y="4389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Gitcoin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4389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Giveth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4389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腾讯公益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4389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蚂蚁链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389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TraceAid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透明化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7091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29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隐私保护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029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5029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029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5029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029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49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国内可用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349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349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5349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5349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5349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69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中小机构友好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669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5669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5669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5669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5669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★★★★★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989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9488"/>
                </a:solidFill>
                <a:latin typeface="微软雅黑"/>
              </a:defRPr>
            </a:pPr>
            <a:r>
              <a:t>产品完整度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989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5989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39" y="5989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5989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989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E293B"/>
                </a:solidFill>
                <a:latin typeface="微软雅黑"/>
              </a:defRPr>
            </a:pPr>
            <a:r>
              <a:t>★★★★★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产品 Demo 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CCFBF1"/>
                </a:solidFill>
                <a:latin typeface="微软雅黑"/>
              </a:defRPr>
            </a:pPr>
            <a:r>
              <a:t>请打开浏览器访问以下地址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474720"/>
            <a:ext cx="64008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365760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D9488"/>
                </a:solidFill>
                <a:latin typeface="微软雅黑"/>
              </a:defRPr>
            </a:pPr>
            <a:r>
              <a:t>https://willowy-begonia-4aa947.netlify.app/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E8DC"/>
                </a:solidFill>
                <a:latin typeface="微软雅黑"/>
              </a:defRPr>
            </a:pPr>
            <a:r>
              <a:t>B 端管理后台 · C 端用户平台 · 全流程交互演示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商业模式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3474720" cy="2286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💰 平台服务费</a:t>
            </a:r>
            <a:br/>
            <a:r>
              <a:t>按筹款 1-2% 收取技术服务费</a:t>
            </a:r>
            <a:br/>
            <a:br/>
            <a:r>
              <a:t>💻 SaaS 订阅</a:t>
            </a:r>
            <a:br/>
            <a:r>
              <a:t>月费 1,000-5,000 元</a:t>
            </a:r>
            <a:br/>
            <a:r>
              <a:t>面向公益基金会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1371600"/>
            <a:ext cx="3474720" cy="2286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5544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🏢 企业 CSR 服务</a:t>
            </a:r>
            <a:br/>
            <a:r>
              <a:t>定制化项目管理与透明度报告</a:t>
            </a:r>
            <a:br/>
            <a:br/>
            <a:r>
              <a:t>📡 增值服务</a:t>
            </a:r>
            <a:br/>
            <a:r>
              <a:t>存证 API · 数据分析 · 定制 NFT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1371600"/>
            <a:ext cx="3474720" cy="2286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5544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📈 增长策略</a:t>
            </a:r>
            <a:br/>
            <a:r>
              <a:t>冷启动 → 品牌认证</a:t>
            </a:r>
            <a:br/>
            <a:r>
              <a:t>→ API 开放 → 网络效应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9488"/>
                </a:solidFill>
                <a:latin typeface="微软雅黑"/>
              </a:defRPr>
            </a:pPr>
            <a:r>
              <a:t>收入预测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6576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  <a:r>
              <a:t>第 1 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  <a:r>
              <a:t>第 2 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  <a:r>
              <a:t>第 3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平台服务费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30 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150 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92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500 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SaaS 订阅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212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12 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212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80 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212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240 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321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企业服务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0 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5321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50 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553211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E293B"/>
                </a:solidFill>
                <a:latin typeface="微软雅黑"/>
              </a:defRPr>
            </a:pPr>
            <a:r>
              <a:t>200 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52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  <a:r>
              <a:t>合计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852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  <a:r>
              <a:t>42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852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  <a:r>
              <a:t>280 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5852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9488"/>
                </a:solidFill>
                <a:latin typeface="微软雅黑"/>
              </a:defRPr>
            </a:pPr>
            <a:r>
              <a:t>940 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团队介绍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2560320" cy="3474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0D9488"/>
                </a:solidFill>
                <a:latin typeface="微软雅黑"/>
              </a:defRPr>
            </a:pPr>
            <a: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9488"/>
                </a:solidFill>
                <a:latin typeface="微软雅黑"/>
              </a:defRPr>
            </a:pPr>
            <a:r>
              <a:t>创始人 / 产品负责人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区块链协会实践</a:t>
            </a:r>
            <a:br/>
            <a:r>
              <a:t>Chainlink Fundamentals 认证</a:t>
            </a:r>
            <a:br/>
            <a:r>
              <a:t>产品战略与项目管理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645920"/>
            <a:ext cx="2560320" cy="3474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40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0D9488"/>
                </a:solidFill>
                <a:latin typeface="微软雅黑"/>
              </a:defRPr>
            </a:pPr>
            <a: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9488"/>
                </a:solidFill>
                <a:latin typeface="微软雅黑"/>
              </a:defRPr>
            </a:pPr>
            <a:r>
              <a:t>前端开发（B 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30175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2900 行代码</a:t>
            </a:r>
            <a:br/>
            <a:r>
              <a:t>完整设计系统</a:t>
            </a:r>
            <a:br/>
            <a:r>
              <a:t>全栈实现能力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45920"/>
            <a:ext cx="2560320" cy="3474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0D9488"/>
                </a:solidFill>
                <a:latin typeface="微软雅黑"/>
              </a:defRPr>
            </a:pPr>
            <a:r>
              <a:t>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9488"/>
                </a:solidFill>
                <a:latin typeface="微软雅黑"/>
              </a:defRPr>
            </a:pPr>
            <a:r>
              <a:t>前端开发（C 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175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用户端平台设计与实现</a:t>
            </a:r>
            <a:br/>
            <a:r>
              <a:t>交互体验优化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645920"/>
            <a:ext cx="2560320" cy="3474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2880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0D9488"/>
                </a:solidFill>
                <a:latin typeface="微软雅黑"/>
              </a:defRPr>
            </a:pPr>
            <a: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4688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9488"/>
                </a:solidFill>
                <a:latin typeface="微软雅黑"/>
              </a:defRPr>
            </a:pPr>
            <a:r>
              <a:t>行业顾问（拟邀请）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175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公益基金会运营专家</a:t>
            </a:r>
            <a:br/>
            <a:r>
              <a:t>行业资源对接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微软雅黑"/>
              </a:defRPr>
            </a:pPr>
            <a:r>
              <a:t>团队背景：在校大学生 + 行业顾问 · 兼具技术实现力与产品思维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发展规划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347472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347472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Phase 1</a:t>
            </a:r>
            <a:br/>
            <a:r>
              <a:t>0-6 个月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FBF1"/>
                </a:solidFill>
                <a:latin typeface="微软雅黑"/>
              </a:defRPr>
            </a:pPr>
            <a:r>
              <a:t>产品验证期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测试网合约部署</a:t>
            </a:r>
            <a:br/>
            <a:r>
              <a:t>• 3-5 家基金会试点</a:t>
            </a:r>
            <a:br/>
            <a:r>
              <a:t>• 种子轮 500 万融资</a:t>
            </a:r>
            <a:br/>
            <a:r>
              <a:t>• 10 个公益项目上线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554480"/>
            <a:ext cx="347472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1554480"/>
            <a:ext cx="347472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Phase 2</a:t>
            </a:r>
            <a:br/>
            <a:r>
              <a:t>6-18 个月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FBF1"/>
                </a:solidFill>
                <a:latin typeface="微软雅黑"/>
              </a:defRPr>
            </a:pPr>
            <a:r>
              <a:t>市场成长期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83464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筹款突破 1000 万</a:t>
            </a:r>
            <a:br/>
            <a:r>
              <a:t>• 50+ 机构 / 10 万+ 用户</a:t>
            </a:r>
            <a:br/>
            <a:r>
              <a:t>• ZK 模块正式集成</a:t>
            </a:r>
            <a:br/>
            <a:r>
              <a:t>• 企业 CSR 服务启动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554480"/>
            <a:ext cx="3474720" cy="4389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1554480"/>
            <a:ext cx="347472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6459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Phase 3</a:t>
            </a:r>
            <a:br/>
            <a:r>
              <a:t>18-36 个月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1031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FBF1"/>
                </a:solidFill>
                <a:latin typeface="微软雅黑"/>
              </a:defRPr>
            </a:pPr>
            <a:r>
              <a:t>生态建设期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834640"/>
            <a:ext cx="2926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微软雅黑"/>
              </a:defRPr>
            </a:pPr>
            <a:r>
              <a:t>• 开放平台 API</a:t>
            </a:r>
            <a:br/>
            <a:r>
              <a:t>• 筹款突破 1 亿元</a:t>
            </a:r>
            <a:br/>
            <a:r>
              <a:t>• 推动行业标准建立</a:t>
            </a:r>
            <a:br/>
            <a:r>
              <a:t>• 探索东南亚市场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D9488"/>
                </a:solidFill>
                <a:latin typeface="微软雅黑"/>
              </a:defRPr>
            </a:pPr>
            <a:r>
              <a:t>融资需求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029200" cy="3200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D9488"/>
                </a:solidFill>
                <a:latin typeface="微软雅黑"/>
              </a:defRPr>
            </a:pPr>
            <a:r>
              <a:t>本轮融资方案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融资额度：500 万元人民币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出让股权：10%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108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投后估值：5,000 万元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投资方式：人民币股权融资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029200" cy="3200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D9488"/>
                </a:solidFill>
                <a:latin typeface="微软雅黑"/>
              </a:defRPr>
            </a:pPr>
            <a:r>
              <a:t>资金用途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技术研发 40% — 合约开发 + 安全审计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97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市场推广 30% — 用户获取 + 品牌建设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团队建设 20% — 核心人才招聘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E293B"/>
                </a:solidFill>
                <a:latin typeface="微软雅黑"/>
              </a:defRPr>
            </a:pPr>
            <a:r>
              <a:t>• 运营储备 10% — 日常运营 + 合规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微软雅黑"/>
              </a:defRPr>
            </a:pPr>
            <a:r>
              <a:t>我们正在寻找相信“科技向善”的投资人，一起用区块链技术重塑公益信任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576072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联系我们：traceaid@example.com  |  在线演示：https://willowy-begonia-4aa947.netlify.app/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微软雅黑"/>
              </a:defRPr>
            </a:pPr>
            <a: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CCFBF1"/>
                </a:solidFill>
                <a:latin typeface="微软雅黑"/>
              </a:defRPr>
            </a:pPr>
            <a:r>
              <a:t>TraceAid · 链善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9E8DC"/>
                </a:solidFill>
                <a:latin typeface="微软雅黑"/>
              </a:defRPr>
            </a:pPr>
            <a:r>
              <a:t>让每一分钱都有迹可循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https://willowy-begonia-4aa947.netlify.app/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