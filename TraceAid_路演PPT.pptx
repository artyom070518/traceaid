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微软雅黑"/>
              </a:defRPr>
            </a:pPr>
            <a:r>
              <a:t>TraceAid 链善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FBF1"/>
                </a:solidFill>
                <a:latin typeface="微软雅黑"/>
              </a:defRPr>
            </a:pPr>
            <a:r>
              <a:t>用区块链技术重塑公益信任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E8DC"/>
                </a:solidFill>
                <a:latin typeface="微软雅黑"/>
              </a:defRPr>
            </a:pPr>
            <a:r>
              <a:t>480亿市场的信任缺口 · 我们的解决方案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FBF1"/>
                </a:solidFill>
                <a:latin typeface="微软雅黑"/>
              </a:defRPr>
            </a:pPr>
            <a:r>
              <a:t>TraceAid 链善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D9488"/>
                </a:solidFill>
                <a:latin typeface="微软雅黑"/>
              </a:defRPr>
            </a:pPr>
            <a:r>
              <a:t>公益行业的信任危机 — 三大核心痛点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微软雅黑"/>
              </a:defRPr>
            </a:pPr>
            <a:r>
              <a:t>中国互联网公益市场规模超480亿，但信任问题导致捐赠转化率不足3%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515600" cy="1371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109728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C2626"/>
                </a:solidFill>
                <a:latin typeface="微软雅黑"/>
              </a:defRPr>
            </a:pPr>
            <a:r>
              <a:t>痛点一：资金去向不透明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捐赠人无法追踪捐款去向，只能依赖机构单方面公布的报表。</a:t>
            </a:r>
            <a:br/>
            <a:r>
              <a:t>信息不对称导致信任成本极高，大量潜在捐赠者因此放弃参与。</a:t>
            </a:r>
            <a:br/>
            <a:r>
              <a:t>案例：2023年多起'慈善秀'事件引发公众信任危机。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291840"/>
            <a:ext cx="10515600" cy="1371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291840"/>
            <a:ext cx="109728" cy="137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290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97706"/>
                </a:solidFill>
                <a:latin typeface="微软雅黑"/>
              </a:defRPr>
            </a:pPr>
            <a:r>
              <a:t>痛点二：受助方身份核验难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947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平台需要在'确认身份真实性'和'保护个人隐私'之间找到平衡。</a:t>
            </a:r>
            <a:br/>
            <a:r>
              <a:t>当前方案依赖线下走访或第三方担保，效率低、成本高、覆盖面有限。</a:t>
            </a:r>
            <a:br/>
            <a:r>
              <a:t>虚假受助案例屡见不鲜，进一步侵蚀公众信任。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846320"/>
            <a:ext cx="10515600" cy="1371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846320"/>
            <a:ext cx="109728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9834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微软雅黑"/>
              </a:defRPr>
            </a:pPr>
            <a:r>
              <a:t>痛点三：资金拨付缺监督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34924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资金拨付由执行机构单方面决定，缺乏有效的自动化约束。</a:t>
            </a:r>
            <a:br/>
            <a:r>
              <a:t>'项目完成了资金还没拨付'或'资金拨付了项目却未执行'情况频发。</a:t>
            </a:r>
            <a:br/>
            <a:r>
              <a:t>传统审计周期长、成本高，无法实现实时监督。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微软雅黑"/>
              </a:defRPr>
            </a:pPr>
            <a:r>
              <a:t>数据来源：中国慈善联合会、中国互联网公益峰会白皮书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D9488"/>
                </a:solidFill>
                <a:latin typeface="微软雅黑"/>
              </a:defRPr>
            </a:pPr>
            <a:r>
              <a:t>用户需求与痛点对应分析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47472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捐赠者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• 想知道每笔捐款的具体去向</a:t>
            </a:r>
            <a:br/>
            <a:r>
              <a:t>• 希望获得可验证的捐赠凭证</a:t>
            </a:r>
            <a:br/>
            <a:r>
              <a:t>• 期望平台操作简单、信息透明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9488"/>
                </a:solidFill>
                <a:latin typeface="微软雅黑"/>
              </a:defRPr>
            </a:pPr>
            <a:r>
              <a:t>→ 资金上链 + TxHash</a:t>
            </a:r>
            <a:br/>
            <a:r>
              <a:t>→ NFT证书+链上存证</a:t>
            </a:r>
            <a:br/>
            <a:r>
              <a:t>→ 三步完成捐赠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463040"/>
            <a:ext cx="347472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463040"/>
            <a:ext cx="347472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5544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公益基金会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4688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• 需要提升机构公信力</a:t>
            </a:r>
            <a:br/>
            <a:r>
              <a:t>• 要求降低运营管理成本</a:t>
            </a:r>
            <a:br/>
            <a:r>
              <a:t>• 渴望获得更多捐赠者信任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4805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9488"/>
                </a:solidFill>
                <a:latin typeface="微软雅黑"/>
              </a:defRPr>
            </a:pPr>
            <a:r>
              <a:t>→ 数据看板+自动对账</a:t>
            </a:r>
            <a:br/>
            <a:r>
              <a:t>→ 多签审批工作流</a:t>
            </a:r>
            <a:br/>
            <a:r>
              <a:t>→ 透明化品牌背书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463040"/>
            <a:ext cx="347472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1463040"/>
            <a:ext cx="347472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15544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受助方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4688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• 需要证明身份真实性</a:t>
            </a:r>
            <a:br/>
            <a:r>
              <a:t>• 保护个人隐私不外泄</a:t>
            </a:r>
            <a:br/>
            <a:r>
              <a:t>• 及时获得资助款项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48056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9488"/>
                </a:solidFill>
                <a:latin typeface="微软雅黑"/>
              </a:defRPr>
            </a:pPr>
            <a:r>
              <a:t>→ ZK隐私核验技术</a:t>
            </a:r>
            <a:br/>
            <a:r>
              <a:t>→ 凭证哈希上链</a:t>
            </a:r>
            <a:br/>
            <a:r>
              <a:t>→ 智能合约自动拨款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D9488"/>
                </a:solidFill>
                <a:latin typeface="微软雅黑"/>
              </a:defRPr>
            </a:pPr>
            <a:r>
              <a:t>TraceAid 解决方案 — 精准回应用户需求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6032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资金上链 · 全程追溯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每笔捐款按1:1比例铸造链上记账凭证</a:t>
            </a:r>
            <a:br/>
            <a:r>
              <a:t>资金流向全链路公开可查，实时可验证</a:t>
            </a:r>
            <a:br/>
            <a:r>
              <a:t>每笔操作生成唯一TxHash，链上永久存证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371600"/>
            <a:ext cx="256032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0" y="1371600"/>
            <a:ext cx="256032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463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ZK核验 · 隐私保护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28600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零知识证明技术验证受助方身份真伪</a:t>
            </a:r>
            <a:br/>
            <a:r>
              <a:t>核验通过后哈希上链，原始隐私材料不外泄</a:t>
            </a:r>
            <a:br/>
            <a:r>
              <a:t>兼顾真实性与隐私保护的双重需求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256032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256032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463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智能合约 · 自动拨款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28600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按预设里程碑自动释放项目资金</a:t>
            </a:r>
            <a:br/>
            <a:r>
              <a:t>多角色多签审批确保每笔支出合规</a:t>
            </a:r>
            <a:br/>
            <a:r>
              <a:t>异常检测自动标记可疑资金流向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371600"/>
            <a:ext cx="256032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35440" y="1371600"/>
            <a:ext cx="256032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4630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NFT证书 · 永久存证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28600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每笔捐赠自动铸造ERC-721标准公益证书</a:t>
            </a:r>
            <a:br/>
            <a:r>
              <a:t>不可篡改、不可交易、永久保存</a:t>
            </a:r>
            <a:br/>
            <a:r>
              <a:t>捐赠者可随时查看、验证、分享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D9488"/>
                </a:solidFill>
                <a:latin typeface="微软雅黑"/>
              </a:defRPr>
            </a:pPr>
            <a:r>
              <a:t>产品可用性 — 为真实场景设计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20040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9488"/>
                </a:solidFill>
                <a:latin typeface="微软雅黑"/>
              </a:defRPr>
            </a:pPr>
            <a:r>
              <a:t>B端管理后台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651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• 数据看板：核心KPI一目了然</a:t>
            </a:r>
            <a:br/>
            <a:r>
              <a:t>• 项目管理：全生命周期追踪</a:t>
            </a:r>
            <a:br/>
            <a:r>
              <a:t>• 多签审批：多角色协同签核</a:t>
            </a:r>
            <a:br/>
            <a:r>
              <a:t>• 批量操作：批量上传/一键核验</a:t>
            </a:r>
            <a:br/>
            <a:r>
              <a:t>• 自动对账：财务数据自动匹配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371600"/>
            <a:ext cx="320040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54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9488"/>
                </a:solidFill>
                <a:latin typeface="微软雅黑"/>
              </a:defRPr>
            </a:pPr>
            <a:r>
              <a:t>C端用户平台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286000"/>
            <a:ext cx="2651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• 三步捐款：选金额→留言→确认</a:t>
            </a:r>
            <a:br/>
            <a:r>
              <a:t>• 全流程&lt;3分钟，门槛极低</a:t>
            </a:r>
            <a:br/>
            <a:r>
              <a:t>• 移动端适配：手机/平板全兼容</a:t>
            </a:r>
            <a:br/>
            <a:r>
              <a:t>• 零登录浏览：无需注册即可查看</a:t>
            </a:r>
            <a:br/>
            <a:r>
              <a:t>• 链上信息可视化：非技术人员也能看懂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371600"/>
            <a:ext cx="320040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1554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9488"/>
                </a:solidFill>
                <a:latin typeface="微软雅黑"/>
              </a:defRPr>
            </a:pPr>
            <a:r>
              <a:t>体验设计优势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2286000"/>
            <a:ext cx="2651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• 零框架依赖，打开即用</a:t>
            </a:r>
            <a:br/>
            <a:r>
              <a:t>• 原生中文设计，符合国内用户习惯</a:t>
            </a:r>
            <a:br/>
            <a:r>
              <a:t>• 响应式布局，多端适配</a:t>
            </a:r>
            <a:br/>
            <a:r>
              <a:t>• 完整的帮助引导体系</a:t>
            </a:r>
            <a:br/>
            <a:r>
              <a:t>• 操作反馈即时，学习成本低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D9488"/>
                </a:solidFill>
                <a:latin typeface="微软雅黑"/>
              </a:defRPr>
            </a:pPr>
            <a:r>
              <a:t>产品先进性 — 技术与体验双重领先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7472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技术架构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• 智能合约：Solidity (EVM兼容)</a:t>
            </a:r>
            <a:br/>
            <a:r>
              <a:t>• NFT标准：ERC-721捐赠证书</a:t>
            </a:r>
            <a:br/>
            <a:r>
              <a:t>• 零知识证明：Circom+SnarkJS</a:t>
            </a:r>
            <a:br/>
            <a:r>
              <a:t>• 前端：纯原生，零框架依赖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371600"/>
            <a:ext cx="347472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371600"/>
            <a:ext cx="347472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463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安全设计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28600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• 多签审批：≥2/3阈值保障</a:t>
            </a:r>
            <a:br/>
            <a:r>
              <a:t>• 异常检测：规则引擎实时监控</a:t>
            </a:r>
            <a:br/>
            <a:r>
              <a:t>• 数据加密：敏感信息脱敏处理</a:t>
            </a:r>
            <a:br/>
            <a:r>
              <a:t>• 审计追踪：每一步都有记录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371600"/>
            <a:ext cx="347472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1371600"/>
            <a:ext cx="347472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463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体验领先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28600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• 行业首个完整ZK核验产品化流程</a:t>
            </a:r>
            <a:br/>
            <a:r>
              <a:t>• 双端覆盖：管理+用户一体化</a:t>
            </a:r>
            <a:br/>
            <a:r>
              <a:t>• 低门槛：无需区块链知识即可使用</a:t>
            </a:r>
            <a:br/>
            <a:r>
              <a:t>• 合规设计：符合国内监管要求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D9488"/>
                </a:solidFill>
                <a:latin typeface="微软雅黑"/>
              </a:defRPr>
            </a:pPr>
            <a:r>
              <a:t>目标用户与触达策略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7472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个人捐赠者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25-45岁，中高收入</a:t>
            </a:r>
            <a:br/>
            <a:r>
              <a:t>关注社会影响力</a:t>
            </a:r>
            <a:br/>
            <a:r>
              <a:t>科技素养高</a:t>
            </a:r>
            <a:br/>
            <a:r>
              <a:t>习惯线上支付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319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9488"/>
                </a:solidFill>
                <a:latin typeface="微软雅黑"/>
              </a:defRPr>
            </a:pPr>
            <a:r>
              <a:t>→ 社交媒体内容营销</a:t>
            </a:r>
            <a:br/>
            <a:r>
              <a:t>→ 公益话题社区运营</a:t>
            </a:r>
            <a:br/>
            <a:r>
              <a:t>→ 口碑传播+好友邀请</a:t>
            </a:r>
            <a:br/>
            <a:r>
              <a:t>→ 透明化报告引发信任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371600"/>
            <a:ext cx="347472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371600"/>
            <a:ext cx="347472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4630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公益基金会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468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中小型为主，年筹&lt;1000万</a:t>
            </a:r>
            <a:br/>
            <a:r>
              <a:t>亟需技术提升公信力</a:t>
            </a:r>
            <a:br/>
            <a:r>
              <a:t>运营预算有限</a:t>
            </a:r>
            <a:br/>
            <a:r>
              <a:t>缺乏技术团队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9319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9488"/>
                </a:solidFill>
                <a:latin typeface="微软雅黑"/>
              </a:defRPr>
            </a:pPr>
            <a:r>
              <a:t>→ 行业协会合作推广</a:t>
            </a:r>
            <a:br/>
            <a:r>
              <a:t>→ 免费试用+案例背书</a:t>
            </a:r>
            <a:br/>
            <a:r>
              <a:t>→ SaaS轻量级接入</a:t>
            </a:r>
            <a:br/>
            <a:r>
              <a:t>→ 透明认证提升品牌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371600"/>
            <a:ext cx="347472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1371600"/>
            <a:ext cx="347472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14630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企业CSR部门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4688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年捐赠预算100-1000万</a:t>
            </a:r>
            <a:br/>
            <a:r>
              <a:t>需要可量化的公益效果</a:t>
            </a:r>
            <a:br/>
            <a:r>
              <a:t>要求合规透明的报告</a:t>
            </a:r>
            <a:br/>
            <a:r>
              <a:t>希望提升品牌形象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9319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9488"/>
                </a:solidFill>
                <a:latin typeface="微软雅黑"/>
              </a:defRPr>
            </a:pPr>
            <a:r>
              <a:t>→ 定制化公益项目管理</a:t>
            </a:r>
            <a:br/>
            <a:r>
              <a:t>→ 链上数据报告服务</a:t>
            </a:r>
            <a:br/>
            <a:r>
              <a:t>→ 企业品牌联合传播</a:t>
            </a:r>
            <a:br/>
            <a:r>
              <a:t>→ ESG合规需求对接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D9488"/>
                </a:solidFill>
                <a:latin typeface="微软雅黑"/>
              </a:defRPr>
            </a:pPr>
            <a:r>
              <a:t>用户转化路径 — 从认知到忠诚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认知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280160"/>
            <a:ext cx="41148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0" y="137160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社交媒体曝光</a:t>
            </a:r>
            <a:br/>
            <a:r>
              <a:t>行业活动触达</a:t>
            </a:r>
            <a:br/>
            <a:r>
              <a:t>口碑传播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280160"/>
            <a:ext cx="4572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37160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D9488"/>
                </a:solidFill>
                <a:latin typeface="微软雅黑"/>
              </a:defRPr>
            </a:pPr>
            <a:r>
              <a:t>→ 用户了解TraceAid品牌和理念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182880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兴趣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286000"/>
            <a:ext cx="41148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37744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浏览公益项目</a:t>
            </a:r>
            <a:br/>
            <a:r>
              <a:t>查看链上信息</a:t>
            </a:r>
            <a:br/>
            <a:r>
              <a:t>阅读透明报告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2286000"/>
            <a:ext cx="4572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23774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D9488"/>
                </a:solidFill>
                <a:latin typeface="微软雅黑"/>
              </a:defRPr>
            </a:pPr>
            <a:r>
              <a:t>→ 用户对平台产生信任感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291840"/>
            <a:ext cx="182880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290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首次捐赠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3291840"/>
            <a:ext cx="41148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338328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三步捐款流程</a:t>
            </a:r>
            <a:br/>
            <a:r>
              <a:t>上链确认体验</a:t>
            </a:r>
            <a:br/>
            <a:r>
              <a:t>获取NFT证书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3291840"/>
            <a:ext cx="4572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338328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D9488"/>
                </a:solidFill>
                <a:latin typeface="微软雅黑"/>
              </a:defRPr>
            </a:pPr>
            <a:r>
              <a:t>→ 用户完成首次转化 (&lt;3分钟)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297680"/>
            <a:ext cx="182880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4348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复捐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4297680"/>
            <a:ext cx="41148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438912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收到项目进展</a:t>
            </a:r>
            <a:br/>
            <a:r>
              <a:t>查看捐款影响</a:t>
            </a:r>
            <a:br/>
            <a:r>
              <a:t>分享公益证书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4297680"/>
            <a:ext cx="4572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438912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D9488"/>
                </a:solidFill>
                <a:latin typeface="微软雅黑"/>
              </a:defRPr>
            </a:pPr>
            <a:r>
              <a:t>→ 用户形成持续捐赠习惯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303520"/>
            <a:ext cx="182880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440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传播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5303520"/>
            <a:ext cx="41148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34640" y="539496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微软雅黑"/>
              </a:defRPr>
            </a:pPr>
            <a:r>
              <a:t>邀请好友参与</a:t>
            </a:r>
            <a:br/>
            <a:r>
              <a:t>分享透明报告</a:t>
            </a:r>
            <a:br/>
            <a:r>
              <a:t>成为平台大使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5303520"/>
            <a:ext cx="4572000" cy="8229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53949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D9488"/>
                </a:solidFill>
                <a:latin typeface="微软雅黑"/>
              </a:defRPr>
            </a:pPr>
            <a:r>
              <a:t>→ 用户成为传播节点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D9488"/>
                </a:solidFill>
                <a:latin typeface="微软雅黑"/>
              </a:defRPr>
            </a:pPr>
            <a:r>
              <a:t>市场前景与行业判断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029200" cy="2743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微软雅黑"/>
              </a:defRPr>
            </a:pPr>
            <a:r>
              <a:t>市场规模与增长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2024年互联网公益募捐总额：约480亿元</a:t>
            </a:r>
            <a:br/>
            <a:r>
              <a:t>预计2027年将达到：800亿元</a:t>
            </a:r>
            <a:br/>
            <a:r>
              <a:t>年均复合增长率：~18%</a:t>
            </a:r>
            <a:br/>
            <a:r>
              <a:t>区块链公益渗透率：&lt;1%</a:t>
            </a:r>
            <a:br/>
            <a:r>
              <a:t>渗透率提升至5%即对应40亿市场空间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029200" cy="2743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微软雅黑"/>
              </a:defRPr>
            </a:pPr>
            <a:r>
              <a:t>行业趋势判断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• 政策支持：十四五将区块链列为关键数字技术</a:t>
            </a:r>
            <a:br/>
            <a:r>
              <a:t>• 需求刚性：信任问题长期未解，市场渴望解决方案</a:t>
            </a:r>
            <a:br/>
            <a:r>
              <a:t>• 技术成熟：区块链基础设施日趋完善，成本持续下降</a:t>
            </a:r>
            <a:br/>
            <a:r>
              <a:t>• 用户教育：Web3认知度提升，接受度显著提高</a:t>
            </a:r>
            <a:br/>
            <a:r>
              <a:t>• 先发优势：目前市场上缺乏同类竞品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389120"/>
            <a:ext cx="10515600" cy="1828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微软雅黑"/>
              </a:defRPr>
            </a:pPr>
            <a:r>
              <a:t>为什么现在入场？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市场处于爆发前夜 + 技术基础设施成熟 + 用户认知度提升 + 竞争者尚未进入 = 最佳窗口期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D9488"/>
                </a:solidFill>
                <a:latin typeface="微软雅黑"/>
              </a:defRPr>
            </a:pPr>
            <a:r>
              <a:t>竞争格局 — 差异化定位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微软雅黑"/>
              </a:defRPr>
            </a:pPr>
            <a:r>
              <a:t>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188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微软雅黑"/>
              </a:defRPr>
            </a:pPr>
            <a:r>
              <a:t>Gitcoin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188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微软雅黑"/>
              </a:defRPr>
            </a:pPr>
            <a:r>
              <a:t>Giveth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188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微软雅黑"/>
              </a:defRPr>
            </a:pPr>
            <a:r>
              <a:t>腾讯公益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188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微软雅黑"/>
              </a:defRPr>
            </a:pPr>
            <a:r>
              <a:t>蚂蚁链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188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D9488"/>
                </a:solidFill>
                <a:latin typeface="微软雅黑"/>
              </a:defRPr>
            </a:pPr>
            <a:r>
              <a:t>TraceAid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透明化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645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★★★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645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★★★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645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★★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645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微软雅黑"/>
              </a:defRPr>
            </a:pPr>
            <a:r>
              <a:t>★★★★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1031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隐私保护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1031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1031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★★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1031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1031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★★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1031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微软雅黑"/>
              </a:defRPr>
            </a:pPr>
            <a:r>
              <a:t>★★★★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5603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国内可用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25603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25603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5603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★★★★★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5603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★★★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5603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微软雅黑"/>
              </a:defRPr>
            </a:pPr>
            <a:r>
              <a:t>★★★★★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0175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中小友好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30175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★★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30175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★★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0175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★★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0175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0175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微软雅黑"/>
              </a:defRPr>
            </a:pPr>
            <a:r>
              <a:t>★★★★★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474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产品完整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3474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★★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3474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★★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3474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★★★★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3474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★★★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3474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微软雅黑"/>
              </a:defRPr>
            </a:pPr>
            <a:r>
              <a:t>★★★★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3931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用户体验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3931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★★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3931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★★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3931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★★★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3931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★★★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3931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微软雅黑"/>
              </a:defRPr>
            </a:pPr>
            <a:r>
              <a:t>★★★★★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0" y="4389120"/>
            <a:ext cx="4114800" cy="1828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79" y="4480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微软雅黑"/>
              </a:defRPr>
            </a:pPr>
            <a:r>
              <a:t>TraceAid 核心优势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79" y="50292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• 双端全覆盖</a:t>
            </a:r>
            <a:br/>
            <a:r>
              <a:t>• ZK隐私保护落地</a:t>
            </a:r>
            <a:br/>
            <a:r>
              <a:t>• 低门槛中小友好</a:t>
            </a:r>
            <a:br/>
            <a:r>
              <a:t>• 纯中文原生体验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D9488"/>
                </a:solidFill>
                <a:latin typeface="微软雅黑"/>
              </a:defRPr>
            </a:pPr>
            <a:r>
              <a:t>商业模式与盈利路径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60320" cy="2286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9488"/>
                </a:solidFill>
                <a:latin typeface="微软雅黑"/>
              </a:defRPr>
            </a:pPr>
            <a:r>
              <a:t>平台服务费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按筹款金额1%-2%</a:t>
            </a:r>
            <a:br/>
            <a:r>
              <a:t>收取技术服务费</a:t>
            </a:r>
            <a:br/>
            <a:r>
              <a:t>随规模递增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371600"/>
            <a:ext cx="2560320" cy="2286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9488"/>
                </a:solidFill>
                <a:latin typeface="微软雅黑"/>
              </a:defRPr>
            </a:pPr>
            <a:r>
              <a:t>SaaS订阅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103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月费1,000-5,000元</a:t>
            </a:r>
            <a:br/>
            <a:r>
              <a:t>面向公益基金会</a:t>
            </a:r>
            <a:br/>
            <a:r>
              <a:t>含全部管理功能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2560320" cy="2286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9488"/>
                </a:solidFill>
                <a:latin typeface="微软雅黑"/>
              </a:defRPr>
            </a:pPr>
            <a:r>
              <a:t>企业CSR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定制化项目管理</a:t>
            </a:r>
            <a:br/>
            <a:r>
              <a:t>自动生成透明报告</a:t>
            </a:r>
            <a:br/>
            <a:r>
              <a:t>企业品牌联合传播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371600"/>
            <a:ext cx="2560320" cy="2286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9488"/>
                </a:solidFill>
                <a:latin typeface="微软雅黑"/>
              </a:defRPr>
            </a:pPr>
            <a:r>
              <a:t>增值服务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10312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微软雅黑"/>
              </a:defRPr>
            </a:pPr>
            <a:r>
              <a:t>区块链存证API</a:t>
            </a:r>
            <a:br/>
            <a:r>
              <a:t>数据分析报告</a:t>
            </a:r>
            <a:br/>
            <a:r>
              <a:t>定制化NFT证书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微软雅黑"/>
              </a:defRPr>
            </a:pPr>
            <a:r>
              <a:t>收入来源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微软雅黑"/>
              </a:defRPr>
            </a:pPr>
            <a:r>
              <a:t>第1年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微软雅黑"/>
              </a:defRPr>
            </a:pPr>
            <a:r>
              <a:t>第2年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微软雅黑"/>
              </a:defRPr>
            </a:pPr>
            <a:r>
              <a:t>第3年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平台服务费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30万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150万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500万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46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SaaS订阅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846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12万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846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80万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846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240万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212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企业CSR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212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0万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5212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50万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212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200万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577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微软雅黑"/>
              </a:defRPr>
            </a:pPr>
            <a:r>
              <a:t>合计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577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微软雅黑"/>
              </a:defRPr>
            </a:pPr>
            <a:r>
              <a:t>42万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5577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微软雅黑"/>
              </a:defRPr>
            </a:pPr>
            <a:r>
              <a:t>280万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577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9488"/>
                </a:solidFill>
                <a:latin typeface="微软雅黑"/>
              </a:defRPr>
            </a:pPr>
            <a:r>
              <a:t>940万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989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D9488"/>
                </a:solidFill>
                <a:latin typeface="微软雅黑"/>
              </a:defRPr>
            </a:pPr>
            <a:r>
              <a:t>目标：3年内实现盈亏平衡，第4年净利润转正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D9488"/>
                </a:solidFill>
                <a:latin typeface="微软雅黑"/>
              </a:defRPr>
            </a:pPr>
            <a:r>
              <a:t>发展规划与融资需求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029200" cy="2743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9488"/>
                </a:solidFill>
                <a:latin typeface="微软雅黑"/>
              </a:defRPr>
            </a:pPr>
            <a:r>
              <a:t>本轮融资方案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• 融资额度：500万元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• 出让股权：10%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• 投后估值：5,000万元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37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• 资金用途：研发40% / 市场30%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49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/>
              </a:defRPr>
            </a:pPr>
            <a:r>
              <a:t>• 团队20% / 运营10%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029200" cy="2743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9488"/>
                </a:solidFill>
                <a:latin typeface="微软雅黑"/>
              </a:defRPr>
            </a:pPr>
            <a:r>
              <a:t>发展规划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• Phase 1 (0-6月)：产品验证 | 5家试点 + 合约部署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• Phase 2 (6-18月)：市场启动 | 50机构 / 10万用户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/>
              </a:defRPr>
            </a:pPr>
            <a:r>
              <a:t>• Phase 3 (18-36月)：规模增长 | 筹款破亿 / 开放API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5669280"/>
            <a:ext cx="640080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57607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微软雅黑"/>
              </a:defRPr>
            </a:pPr>
            <a:r>
              <a:t>路演展示：https://willowy-begonia-4aa947.netlify.app/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微软雅黑"/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CCFBF1"/>
                </a:solidFill>
                <a:latin typeface="微软雅黑"/>
              </a:defRPr>
            </a:pPr>
            <a:r>
              <a:t>TraceAid 链善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E8DC"/>
                </a:solidFill>
                <a:latin typeface="微软雅黑"/>
              </a:defRPr>
            </a:pPr>
            <a:r>
              <a:t>用技术重塑公益信任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让每一分钱都有迹可循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