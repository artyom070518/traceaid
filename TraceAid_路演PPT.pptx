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40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381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Microsoft YaHei"/>
              </a:defRPr>
            </a:pPr>
            <a:r>
              <a:t>TraceAid 链善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5A623"/>
                </a:solidFill>
                <a:latin typeface="Microsoft YaHei"/>
              </a:defRPr>
            </a:pPr>
            <a:r>
              <a:t>TraceAid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Microsoft YaHei"/>
              </a:defRPr>
            </a:pPr>
            <a:r>
              <a:t>公益资金透明化管理平台  |  路演方案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ABBCC"/>
                </a:solidFill>
                <a:latin typeface="Microsoft YaHei"/>
              </a:defRPr>
            </a:pPr>
            <a:r>
              <a:t>让每一份善意都有迹可循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3403B"/>
                </a:solidFill>
                <a:latin typeface="Microsoft YaHei"/>
              </a:defRPr>
            </a:pPr>
            <a:r>
              <a:t>行业痛点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50800" cy="4572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261872" y="1554480"/>
            <a:ext cx="256032" cy="256032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0" y="1463040"/>
            <a:ext cx="8686800" cy="914400"/>
          </a:xfrm>
          <a:prstGeom prst="rect">
            <a:avLst/>
          </a:prstGeom>
          <a:solidFill>
            <a:srgbClr val="F5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0" y="15087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D9488"/>
                </a:solidFill>
                <a:latin typeface="Microsoft YaHei"/>
              </a:defRPr>
            </a:pPr>
            <a:r>
              <a:t>资金流向不透明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18745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捐赠人无法追踪善款去向，信任度持续下降</a:t>
            </a:r>
          </a:p>
        </p:txBody>
      </p:sp>
      <p:sp>
        <p:nvSpPr>
          <p:cNvPr id="8" name="Oval 7"/>
          <p:cNvSpPr/>
          <p:nvPr/>
        </p:nvSpPr>
        <p:spPr>
          <a:xfrm>
            <a:off x="1261872" y="2697480"/>
            <a:ext cx="256032" cy="256032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11680" y="2606040"/>
            <a:ext cx="8686800" cy="914400"/>
          </a:xfrm>
          <a:prstGeom prst="rect">
            <a:avLst/>
          </a:prstGeom>
          <a:solidFill>
            <a:srgbClr val="F5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0" y="26517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D9488"/>
                </a:solidFill>
                <a:latin typeface="Microsoft YaHei"/>
              </a:defRPr>
            </a:pPr>
            <a:r>
              <a:t>身份核验困难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30175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受助方资质造假风险高，审核成本居高不下</a:t>
            </a:r>
          </a:p>
        </p:txBody>
      </p:sp>
      <p:sp>
        <p:nvSpPr>
          <p:cNvPr id="12" name="Oval 11"/>
          <p:cNvSpPr/>
          <p:nvPr/>
        </p:nvSpPr>
        <p:spPr>
          <a:xfrm>
            <a:off x="1261872" y="3840480"/>
            <a:ext cx="256032" cy="256032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11680" y="3749040"/>
            <a:ext cx="8686800" cy="914400"/>
          </a:xfrm>
          <a:prstGeom prst="rect">
            <a:avLst/>
          </a:prstGeom>
          <a:solidFill>
            <a:srgbClr val="F5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86000" y="37947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D9488"/>
                </a:solidFill>
                <a:latin typeface="Microsoft YaHei"/>
              </a:defRPr>
            </a:pPr>
            <a:r>
              <a:t>运营效率低下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41605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中小机构缺乏数字化工具，管理费用占比过高</a:t>
            </a:r>
          </a:p>
        </p:txBody>
      </p:sp>
      <p:sp>
        <p:nvSpPr>
          <p:cNvPr id="16" name="Oval 15"/>
          <p:cNvSpPr/>
          <p:nvPr/>
        </p:nvSpPr>
        <p:spPr>
          <a:xfrm>
            <a:off x="1261872" y="4983480"/>
            <a:ext cx="256032" cy="256032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011680" y="4892040"/>
            <a:ext cx="8686800" cy="914400"/>
          </a:xfrm>
          <a:prstGeom prst="rect">
            <a:avLst/>
          </a:prstGeom>
          <a:solidFill>
            <a:srgbClr val="F5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86000" y="49377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D9488"/>
                </a:solidFill>
                <a:latin typeface="Microsoft YaHei"/>
              </a:defRPr>
            </a:pPr>
            <a:r>
              <a:t>监管合规压力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53035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公益信息披露标准日趋严格，合规成本上升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3403B"/>
                </a:solidFill>
                <a:latin typeface="Microsoft YaHei"/>
              </a:defRPr>
            </a:pPr>
            <a:r>
              <a:t>市场需求分析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5029200" cy="5029200"/>
          </a:xfrm>
          <a:prstGeom prst="rect">
            <a:avLst/>
          </a:prstGeom>
          <a:solidFill>
            <a:srgbClr val="F0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D9488"/>
                </a:solidFill>
                <a:latin typeface="Microsoft YaHei"/>
              </a:defRPr>
            </a:pPr>
            <a:r>
              <a:t>目标用户痛点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60"/>
              </a:spcAft>
              <a:defRPr sz="1400">
                <a:solidFill>
                  <a:srgbClr val="1A1A2E"/>
                </a:solidFill>
                <a:latin typeface="Microsoft YaHei"/>
              </a:defRPr>
            </a:pPr>
            <a:r>
              <a:t>•  中小基金会：年管理费占筹款额15%-25%，缺乏透明化技术手段</a:t>
            </a:r>
          </a:p>
          <a:p>
            <a:pPr algn="l">
              <a:spcAft>
                <a:spcPts val="560"/>
              </a:spcAft>
              <a:defRPr sz="1400">
                <a:solidFill>
                  <a:srgbClr val="1A1A2E"/>
                </a:solidFill>
                <a:latin typeface="Microsoft YaHei"/>
              </a:defRPr>
            </a:pPr>
            <a:r>
              <a:t>•  高校慈善组织：财务管理分散，捐赠人要求查看详细支出记录</a:t>
            </a:r>
          </a:p>
          <a:p>
            <a:pPr algn="l">
              <a:spcAft>
                <a:spcPts val="560"/>
              </a:spcAft>
              <a:defRPr sz="1400">
                <a:solidFill>
                  <a:srgbClr val="1A1A2E"/>
                </a:solidFill>
                <a:latin typeface="Microsoft YaHei"/>
              </a:defRPr>
            </a:pPr>
            <a:r>
              <a:t>•  社区公益项目：资金规模小，但公信力建设需求同样迫切</a:t>
            </a:r>
          </a:p>
          <a:p>
            <a:pPr algn="l">
              <a:spcAft>
                <a:spcPts val="560"/>
              </a:spcAft>
              <a:defRPr sz="1400">
                <a:solidFill>
                  <a:srgbClr val="1A1A2E"/>
                </a:solidFill>
                <a:latin typeface="Microsoft YaHei"/>
              </a:defRPr>
            </a:pPr>
            <a:r>
              <a:t>•  捐赠人群体：62%的捐赠者希望看到资金最终去向</a:t>
            </a:r>
          </a:p>
          <a:p>
            <a:pPr algn="l">
              <a:spcAft>
                <a:spcPts val="560"/>
              </a:spcAft>
              <a:defRPr sz="1400">
                <a:solidFill>
                  <a:srgbClr val="1A1A2E"/>
                </a:solidFill>
                <a:latin typeface="Microsoft YaHei"/>
              </a:defRPr>
            </a:pPr>
            <a:r>
              <a:t>•  监管部门：公益信息披露标准化趋势，合规要求逐年提高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0" y="1371600"/>
            <a:ext cx="5760720" cy="5029200"/>
          </a:xfrm>
          <a:prstGeom prst="rect">
            <a:avLst/>
          </a:prstGeom>
          <a:solidFill>
            <a:srgbClr val="1340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5A623"/>
                </a:solidFill>
                <a:latin typeface="Microsoft YaHei"/>
              </a:defRPr>
            </a:pPr>
            <a:r>
              <a:t>TraceAid 解决方案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9456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  <a:defRPr sz="1600">
                <a:solidFill>
                  <a:srgbClr val="FFFFFF"/>
                </a:solidFill>
                <a:latin typeface="Microsoft YaHei"/>
              </a:defRPr>
            </a:pPr>
            <a:r>
              <a:t>✔ 区块链记账：资金上链，流向可追溯</a:t>
            </a:r>
          </a:p>
          <a:p>
            <a:pPr algn="l">
              <a:spcAft>
                <a:spcPts val="640"/>
              </a:spcAft>
              <a:defRPr sz="1600">
                <a:solidFill>
                  <a:srgbClr val="FFFFFF"/>
                </a:solidFill>
                <a:latin typeface="Microsoft YaHei"/>
              </a:defRPr>
            </a:pPr>
            <a:r>
              <a:t>✔ ZK 隐私核验：受助方凭证真实可信</a:t>
            </a:r>
          </a:p>
          <a:p>
            <a:pPr algn="l">
              <a:spcAft>
                <a:spcPts val="640"/>
              </a:spcAft>
              <a:defRPr sz="1600">
                <a:solidFill>
                  <a:srgbClr val="FFFFFF"/>
                </a:solidFill>
                <a:latin typeface="Microsoft YaHei"/>
              </a:defRPr>
            </a:pPr>
            <a:r>
              <a:t>✔ 多签审批流：资金支出多层把关</a:t>
            </a:r>
          </a:p>
          <a:p>
            <a:pPr algn="l">
              <a:spcAft>
                <a:spcPts val="640"/>
              </a:spcAft>
              <a:defRPr sz="1600">
                <a:solidFill>
                  <a:srgbClr val="FFFFFF"/>
                </a:solidFill>
                <a:latin typeface="Microsoft YaHei"/>
              </a:defRPr>
            </a:pPr>
            <a:r>
              <a:t>✔ 异常检测引擎：智能识别可疑行为</a:t>
            </a:r>
          </a:p>
          <a:p>
            <a:pPr algn="l">
              <a:spcAft>
                <a:spcPts val="640"/>
              </a:spcAft>
              <a:defRPr sz="1600">
                <a:solidFill>
                  <a:srgbClr val="FFFFFF"/>
                </a:solidFill>
                <a:latin typeface="Microsoft YaHei"/>
              </a:defRPr>
            </a:pPr>
            <a:r>
              <a:t>✔ SaaS 轻量部署：中小机构即开即用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3403B"/>
                </a:solidFill>
                <a:latin typeface="Microsoft YaHei"/>
              </a:defRPr>
            </a:pPr>
            <a:r>
              <a:t>产品方案总览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5029200" cy="2286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区块链记账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60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捐赠上链铸造TAC Token</a:t>
            </a:r>
          </a:p>
          <a:p>
            <a:pPr algn="l">
              <a:spcAft>
                <a:spcPts val="560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全流程链上可追溯</a:t>
            </a:r>
          </a:p>
          <a:p>
            <a:pPr algn="l">
              <a:spcAft>
                <a:spcPts val="560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公开可查的交易哈希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0" y="1371600"/>
            <a:ext cx="5029200" cy="2286000"/>
          </a:xfrm>
          <a:prstGeom prst="rect">
            <a:avLst/>
          </a:prstGeom>
          <a:solidFill>
            <a:srgbClr val="2E8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0" y="164592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ZK隐私核验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28600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60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零知识证明验证凭证真实性</a:t>
            </a:r>
          </a:p>
          <a:p>
            <a:pPr algn="l">
              <a:spcAft>
                <a:spcPts val="560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哈希上链保护隐私</a:t>
            </a:r>
          </a:p>
          <a:p>
            <a:pPr algn="l">
              <a:spcAft>
                <a:spcPts val="560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核验通过自动锚定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114800"/>
            <a:ext cx="5029200" cy="2286000"/>
          </a:xfrm>
          <a:prstGeom prst="rect">
            <a:avLst/>
          </a:prstGeom>
          <a:solidFill>
            <a:srgbClr val="389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8912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多签审批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02920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60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多角色分级签核</a:t>
            </a:r>
          </a:p>
          <a:p>
            <a:pPr algn="l">
              <a:spcAft>
                <a:spcPts val="560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资金支出多层审核</a:t>
            </a:r>
          </a:p>
          <a:p>
            <a:pPr algn="l">
              <a:spcAft>
                <a:spcPts val="560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审批流程可配置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4114800"/>
            <a:ext cx="5029200" cy="2286000"/>
          </a:xfrm>
          <a:prstGeom prst="rect">
            <a:avLst/>
          </a:prstGeom>
          <a:solidFill>
            <a:srgbClr val="44B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438912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异常检测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502920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60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AI辅助资金流向分析</a:t>
            </a:r>
          </a:p>
          <a:p>
            <a:pPr algn="l">
              <a:spcAft>
                <a:spcPts val="560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异常行为自动标记</a:t>
            </a:r>
          </a:p>
          <a:p>
            <a:pPr algn="l">
              <a:spcAft>
                <a:spcPts val="560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一键展开复核面板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3403B"/>
                </a:solidFill>
                <a:latin typeface="Microsoft YaHei"/>
              </a:defRPr>
            </a:pPr>
            <a:r>
              <a:t>产品可用性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2286000" cy="7772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技术门槛</a:t>
            </a:r>
          </a:p>
        </p:txBody>
      </p:sp>
      <p:sp>
        <p:nvSpPr>
          <p:cNvPr id="5" name="Rectangle 4"/>
          <p:cNvSpPr/>
          <p:nvPr/>
        </p:nvSpPr>
        <p:spPr>
          <a:xfrm>
            <a:off x="2926080" y="1371600"/>
            <a:ext cx="8686800" cy="777240"/>
          </a:xfrm>
          <a:prstGeom prst="rect">
            <a:avLst/>
          </a:prstGeom>
          <a:solidFill>
            <a:srgbClr val="F5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0" y="1508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Microsoft YaHei"/>
              </a:defRPr>
            </a:pPr>
            <a:r>
              <a:t>零框架依赖，浏览器直接打开即可使用，无需安装任何软件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331720"/>
            <a:ext cx="2286000" cy="7772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4688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响应适配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80" y="2331720"/>
            <a:ext cx="8686800" cy="777240"/>
          </a:xfrm>
          <a:prstGeom prst="rect">
            <a:avLst/>
          </a:prstGeom>
          <a:solidFill>
            <a:srgbClr val="F5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2468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Microsoft YaHei"/>
              </a:defRPr>
            </a:pPr>
            <a:r>
              <a:t>完整的设计系统，自适应桌面端与平板端，操作体验一致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291840"/>
            <a:ext cx="2286000" cy="7772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4290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交互设计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80" y="3291840"/>
            <a:ext cx="8686800" cy="777240"/>
          </a:xfrm>
          <a:prstGeom prst="rect">
            <a:avLst/>
          </a:prstGeom>
          <a:solidFill>
            <a:srgbClr val="F5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0" y="34290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Microsoft YaHei"/>
              </a:defRPr>
            </a:pPr>
            <a:r>
              <a:t>拟物化图标、渐变色卡片、丝滑动画过渡，降低学习成本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251960"/>
            <a:ext cx="2286000" cy="7772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38912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数据可视化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26080" y="4251960"/>
            <a:ext cx="8686800" cy="777240"/>
          </a:xfrm>
          <a:prstGeom prst="rect">
            <a:avLst/>
          </a:prstGeom>
          <a:solidFill>
            <a:srgbClr val="F5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0" y="43891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Microsoft YaHei"/>
              </a:defRPr>
            </a:pPr>
            <a:r>
              <a:t>看板、漏斗图、时间轴、对比表格等多维度数据呈现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212080"/>
            <a:ext cx="2286000" cy="7772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34924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无障碍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26080" y="5212080"/>
            <a:ext cx="8686800" cy="777240"/>
          </a:xfrm>
          <a:prstGeom prst="rect">
            <a:avLst/>
          </a:prstGeom>
          <a:solidFill>
            <a:srgbClr val="F5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0" y="53492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Microsoft YaHei"/>
              </a:defRPr>
            </a:pPr>
            <a:r>
              <a:t>高对比度色彩方案、清晰的视觉层级、键盘导航支持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3403B"/>
                </a:solidFill>
                <a:latin typeface="Microsoft YaHei"/>
              </a:defRPr>
            </a:pPr>
            <a:r>
              <a:t>技术先进性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371600"/>
            <a:ext cx="10332720" cy="1645920"/>
          </a:xfrm>
          <a:prstGeom prst="rect">
            <a:avLst/>
          </a:prstGeom>
          <a:solidFill>
            <a:srgbClr val="1340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463040"/>
            <a:ext cx="9784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5A623"/>
                </a:solidFill>
                <a:latin typeface="Microsoft YaHei"/>
              </a:defRPr>
            </a:pPr>
            <a:r>
              <a:t>区块链底层架构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011680"/>
            <a:ext cx="9784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基于以太坊兼容链设计，捐赠资金铸造 TAC Token 实现链上记账；所有交易哈希公开可查，支持主流区块链浏览器验证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291840"/>
            <a:ext cx="4846320" cy="29260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338328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零知识证明隐私核验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931920"/>
            <a:ext cx="42976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60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受助方凭证 → ZK 证明生成</a:t>
            </a:r>
          </a:p>
          <a:p>
            <a:pPr algn="l">
              <a:spcAft>
                <a:spcPts val="560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→ 链上验证 → 哈希锚定</a:t>
            </a:r>
          </a:p>
          <a:p>
            <a:pPr algn="l">
              <a:spcAft>
                <a:spcPts val="560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Aft>
                <a:spcPts val="560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核验全流程分步动画展示</a:t>
            </a:r>
          </a:p>
          <a:p>
            <a:pPr algn="l">
              <a:spcAft>
                <a:spcPts val="560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隐私数据不上链，只存哈希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3291840"/>
            <a:ext cx="5029200" cy="2926080"/>
          </a:xfrm>
          <a:prstGeom prst="rect">
            <a:avLst/>
          </a:prstGeom>
          <a:solidFill>
            <a:srgbClr val="2E8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3383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AI 辅助异常检测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3931920"/>
            <a:ext cx="4572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60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资金流向异常模式识别</a:t>
            </a:r>
          </a:p>
          <a:p>
            <a:pPr algn="l">
              <a:spcAft>
                <a:spcPts val="560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签核行为异常自动标记</a:t>
            </a:r>
          </a:p>
          <a:p>
            <a:pPr algn="l">
              <a:spcAft>
                <a:spcPts val="560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Aft>
                <a:spcPts val="560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多维度风险评分模型</a:t>
            </a:r>
          </a:p>
          <a:p>
            <a:pPr algn="l">
              <a:spcAft>
                <a:spcPts val="560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可视化异常面板 + 一键复核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948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目标用户群体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645920"/>
            <a:ext cx="2651760" cy="4572000"/>
          </a:xfrm>
          <a:prstGeom prst="rect">
            <a:avLst/>
          </a:prstGeom>
          <a:solidFill>
            <a:srgbClr val="0B7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5A623"/>
                </a:solidFill>
                <a:latin typeface="Microsoft YaHei"/>
              </a:defRPr>
            </a:pPr>
            <a:r>
              <a:t>🏛 中小公益基金会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2286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年筹款500万-5000万</a:t>
            </a:r>
          </a:p>
          <a:p>
            <a:pPr algn="l">
              <a:spcAft>
                <a:spcPts val="52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缺乏自建区块链技术能力</a:t>
            </a:r>
          </a:p>
          <a:p>
            <a:pPr algn="l">
              <a:spcAft>
                <a:spcPts val="52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管理成本占筹款额15%以上</a:t>
            </a:r>
          </a:p>
        </p:txBody>
      </p:sp>
      <p:sp>
        <p:nvSpPr>
          <p:cNvPr id="6" name="Rectangle 5"/>
          <p:cNvSpPr/>
          <p:nvPr/>
        </p:nvSpPr>
        <p:spPr>
          <a:xfrm>
            <a:off x="3383280" y="1645920"/>
            <a:ext cx="2651760" cy="4572000"/>
          </a:xfrm>
          <a:prstGeom prst="rect">
            <a:avLst/>
          </a:prstGeom>
          <a:solidFill>
            <a:srgbClr val="0B7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6160" y="18288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5A623"/>
                </a:solidFill>
                <a:latin typeface="Microsoft YaHei"/>
              </a:defRPr>
            </a:pPr>
            <a:r>
              <a:t>🎓 高校慈善组织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2377440"/>
            <a:ext cx="2286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财务分散管理，捐赠人监督需求强</a:t>
            </a:r>
          </a:p>
          <a:p>
            <a:pPr algn="l">
              <a:spcAft>
                <a:spcPts val="52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需要低成本透明化工具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645920"/>
            <a:ext cx="2651760" cy="4572000"/>
          </a:xfrm>
          <a:prstGeom prst="rect">
            <a:avLst/>
          </a:prstGeom>
          <a:solidFill>
            <a:srgbClr val="0B7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8288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5A623"/>
                </a:solidFill>
                <a:latin typeface="Microsoft YaHei"/>
              </a:defRPr>
            </a:pPr>
            <a:r>
              <a:t>🏘 社区公益项目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377440"/>
            <a:ext cx="2286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资金规模小但公信力建设刚需</a:t>
            </a:r>
          </a:p>
          <a:p>
            <a:pPr algn="l">
              <a:spcAft>
                <a:spcPts val="52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希望建立捐赠人长期信任关系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35440" y="1645920"/>
            <a:ext cx="2651760" cy="4572000"/>
          </a:xfrm>
          <a:prstGeom prst="rect">
            <a:avLst/>
          </a:prstGeom>
          <a:solidFill>
            <a:srgbClr val="0B7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0" y="18288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5A623"/>
                </a:solidFill>
                <a:latin typeface="Microsoft YaHei"/>
              </a:defRPr>
            </a:pPr>
            <a:r>
              <a:t>🤝 企业CSR部门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0" y="2377440"/>
            <a:ext cx="2286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企业社会责任资金需可追溯报告</a:t>
            </a:r>
          </a:p>
          <a:p>
            <a:pPr algn="l">
              <a:spcAft>
                <a:spcPts val="52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支持ESG披露中的公益数据透明化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3403B"/>
                </a:solidFill>
                <a:latin typeface="Microsoft YaHei"/>
              </a:defRPr>
            </a:pPr>
            <a:r>
              <a:t>用户转化漏斗</a:t>
            </a:r>
          </a:p>
        </p:txBody>
      </p:sp>
      <p:sp>
        <p:nvSpPr>
          <p:cNvPr id="3" name="Rectangle 2"/>
          <p:cNvSpPr/>
          <p:nvPr/>
        </p:nvSpPr>
        <p:spPr>
          <a:xfrm>
            <a:off x="5410047" y="1371600"/>
            <a:ext cx="1371600" cy="822960"/>
          </a:xfrm>
          <a:prstGeom prst="rect">
            <a:avLst/>
          </a:prstGeom>
          <a:solidFill>
            <a:srgbClr val="44B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92927" y="141732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认知触达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92927" y="173736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行业展会 / 公益论坛 / 线上推广</a:t>
            </a:r>
          </a:p>
        </p:txBody>
      </p:sp>
      <p:sp>
        <p:nvSpPr>
          <p:cNvPr id="6" name="Down Arrow 5"/>
          <p:cNvSpPr/>
          <p:nvPr/>
        </p:nvSpPr>
        <p:spPr>
          <a:xfrm>
            <a:off x="5912967" y="2194560"/>
            <a:ext cx="365760" cy="228600"/>
          </a:xfrm>
          <a:prstGeom prst="down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52847" y="2377440"/>
            <a:ext cx="2286000" cy="822960"/>
          </a:xfrm>
          <a:prstGeom prst="rect">
            <a:avLst/>
          </a:prstGeom>
          <a:solidFill>
            <a:srgbClr val="389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35727" y="242316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注册试用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35727" y="27432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免费SaaS体验 / Demo演示申请</a:t>
            </a:r>
          </a:p>
        </p:txBody>
      </p:sp>
      <p:sp>
        <p:nvSpPr>
          <p:cNvPr id="10" name="Down Arrow 9"/>
          <p:cNvSpPr/>
          <p:nvPr/>
        </p:nvSpPr>
        <p:spPr>
          <a:xfrm>
            <a:off x="5912967" y="3200400"/>
            <a:ext cx="365760" cy="228600"/>
          </a:xfrm>
          <a:prstGeom prst="down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95647" y="3383280"/>
            <a:ext cx="3200400" cy="822960"/>
          </a:xfrm>
          <a:prstGeom prst="rect">
            <a:avLst/>
          </a:prstGeom>
          <a:solidFill>
            <a:srgbClr val="2E8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8527" y="342900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深度对接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8527" y="374904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技术对接 / 数据迁移 / 定制配置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5912967" y="4206240"/>
            <a:ext cx="365760" cy="228600"/>
          </a:xfrm>
          <a:prstGeom prst="down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38447" y="4389120"/>
            <a:ext cx="4114800" cy="822960"/>
          </a:xfrm>
          <a:prstGeom prst="rect">
            <a:avLst/>
          </a:prstGeom>
          <a:solidFill>
            <a:srgbClr val="1340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21327" y="443484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签约付费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21327" y="475488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阶梯定价 / 合同签署 / 正式上线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5912967" y="5212080"/>
            <a:ext cx="365760" cy="228600"/>
          </a:xfrm>
          <a:prstGeom prst="down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581247" y="5394960"/>
            <a:ext cx="5029200" cy="822960"/>
          </a:xfrm>
          <a:prstGeom prst="rect">
            <a:avLst/>
          </a:prstGeom>
          <a:solidFill>
            <a:srgbClr val="1340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64127" y="54406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续费增值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64127" y="576072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客户成功 / 功能扩展 / 口碑传播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3403B"/>
                </a:solidFill>
                <a:latin typeface="Microsoft YaHei"/>
              </a:defRPr>
            </a:pPr>
            <a:r>
              <a:t>市场前景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11247120" cy="1463040"/>
          </a:xfrm>
          <a:prstGeom prst="rect">
            <a:avLst/>
          </a:prstGeom>
          <a:solidFill>
            <a:srgbClr val="F0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D9488"/>
                </a:solidFill>
                <a:latin typeface="Microsoft YaHei"/>
              </a:defRPr>
            </a:pPr>
            <a:r>
              <a:t>市场规模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Microsoft YaHei"/>
              </a:defRPr>
            </a:pPr>
            <a:r>
              <a:t>据中国慈善联合会2024年报统计，中国公益慈善捐赠总额已突破2200亿元，年增长率稳定在8%以上。其中，数字化透明化管理平台渗透率不足10%，市场潜力巨大。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926080"/>
            <a:ext cx="5303520" cy="3474720"/>
          </a:xfrm>
          <a:prstGeom prst="rect">
            <a:avLst/>
          </a:prstGeom>
          <a:solidFill>
            <a:srgbClr val="1340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A623"/>
                </a:solidFill>
                <a:latin typeface="Microsoft YaHei"/>
              </a:defRPr>
            </a:pPr>
            <a:r>
              <a:t>增长驱动力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66160"/>
            <a:ext cx="48463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1.  政策推动：民政部推进公益信息披露标准化</a:t>
            </a:r>
          </a:p>
          <a:p>
            <a:pPr algn="l">
              <a:spcAft>
                <a:spcPts val="52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2.  技术成熟：区块链 + ZK 成本持续下降</a:t>
            </a:r>
          </a:p>
          <a:p>
            <a:pPr algn="l">
              <a:spcAft>
                <a:spcPts val="52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3.  用户觉醒：捐赠人对透明度要求不断提高</a:t>
            </a:r>
          </a:p>
          <a:p>
            <a:pPr algn="l">
              <a:spcAft>
                <a:spcPts val="52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4.  中小机构数字化转型加速</a:t>
            </a:r>
          </a:p>
          <a:p>
            <a:pPr algn="l">
              <a:spcAft>
                <a:spcPts val="52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5.  企业ESG披露对公益数据提出更高要求</a:t>
            </a:r>
          </a:p>
          <a:p>
            <a:pPr algn="l">
              <a:spcAft>
                <a:spcPts val="52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6.  疫情后在线公益参与度显著增长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2926080"/>
            <a:ext cx="5486400" cy="3474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31089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市场目标（3年）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3566160"/>
            <a:ext cx="502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▸ 签约公益机构 50+ 家</a:t>
            </a:r>
          </a:p>
          <a:p>
            <a:pPr algn="l">
              <a:spcAft>
                <a:spcPts val="52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▸ 平台年处理捐赠额 5 亿元</a:t>
            </a:r>
          </a:p>
          <a:p>
            <a:pPr algn="l">
              <a:spcAft>
                <a:spcPts val="52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▸ SaaS 年经常性收入 500 万元</a:t>
            </a:r>
          </a:p>
          <a:p>
            <a:pPr algn="l">
              <a:spcAft>
                <a:spcPts val="52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▸ 覆盖受益人群 10 万人</a:t>
            </a:r>
          </a:p>
          <a:p>
            <a:pPr algn="l">
              <a:spcAft>
                <a:spcPts val="52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▸ 获得等保三级合规认证</a:t>
            </a:r>
          </a:p>
          <a:p>
            <a:pPr algn="l">
              <a:spcAft>
                <a:spcPts val="52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▸ 拓展东南亚公益市场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3403B"/>
                </a:solidFill>
                <a:latin typeface="Microsoft YaHei"/>
              </a:defRPr>
            </a:pPr>
            <a:r>
              <a:t>竞品对比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1645920" cy="548640"/>
          </a:xfrm>
          <a:prstGeom prst="rect">
            <a:avLst/>
          </a:prstGeom>
          <a:solidFill>
            <a:srgbClr val="1340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维度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2103120" y="1280160"/>
            <a:ext cx="1645920" cy="548640"/>
          </a:xfrm>
          <a:prstGeom prst="rect">
            <a:avLst/>
          </a:prstGeom>
          <a:solidFill>
            <a:srgbClr val="1340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03120" y="13716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Gitcoin</a:t>
            </a:r>
          </a:p>
        </p:txBody>
      </p:sp>
      <p:sp>
        <p:nvSpPr>
          <p:cNvPr id="7" name="Rectangle 6"/>
          <p:cNvSpPr/>
          <p:nvPr/>
        </p:nvSpPr>
        <p:spPr>
          <a:xfrm>
            <a:off x="3749040" y="1280160"/>
            <a:ext cx="1645920" cy="548640"/>
          </a:xfrm>
          <a:prstGeom prst="rect">
            <a:avLst/>
          </a:prstGeom>
          <a:solidFill>
            <a:srgbClr val="1340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49040" y="13716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Giveth</a:t>
            </a:r>
          </a:p>
        </p:txBody>
      </p:sp>
      <p:sp>
        <p:nvSpPr>
          <p:cNvPr id="9" name="Rectangle 8"/>
          <p:cNvSpPr/>
          <p:nvPr/>
        </p:nvSpPr>
        <p:spPr>
          <a:xfrm>
            <a:off x="5394960" y="1280160"/>
            <a:ext cx="1645920" cy="548640"/>
          </a:xfrm>
          <a:prstGeom prst="rect">
            <a:avLst/>
          </a:prstGeom>
          <a:solidFill>
            <a:srgbClr val="1340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94960" y="13716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腾讯公益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0" y="1280160"/>
            <a:ext cx="1645920" cy="548640"/>
          </a:xfrm>
          <a:prstGeom prst="rect">
            <a:avLst/>
          </a:prstGeom>
          <a:solidFill>
            <a:srgbClr val="1340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0" y="13716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蚂蚁链公益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0" y="1280160"/>
            <a:ext cx="1645920" cy="548640"/>
          </a:xfrm>
          <a:prstGeom prst="rect">
            <a:avLst/>
          </a:prstGeom>
          <a:solidFill>
            <a:srgbClr val="1340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0" y="13716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TraceAid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828800"/>
            <a:ext cx="1645920" cy="548640"/>
          </a:xfrm>
          <a:prstGeom prst="rect">
            <a:avLst/>
          </a:prstGeom>
          <a:solidFill>
            <a:srgbClr val="F5F9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19202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Microsoft YaHei"/>
              </a:defRPr>
            </a:pPr>
            <a:r>
              <a:t>透明化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03120" y="1828800"/>
            <a:ext cx="1645920" cy="548640"/>
          </a:xfrm>
          <a:prstGeom prst="rect">
            <a:avLst/>
          </a:prstGeom>
          <a:solidFill>
            <a:srgbClr val="F5F9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03120" y="19202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Microsoft YaHei"/>
              </a:defRPr>
            </a:pPr>
            <a:r>
              <a:t>☆☆☆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49040" y="1828800"/>
            <a:ext cx="1645920" cy="548640"/>
          </a:xfrm>
          <a:prstGeom prst="rect">
            <a:avLst/>
          </a:prstGeom>
          <a:solidFill>
            <a:srgbClr val="F5F9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49040" y="19202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Microsoft YaHei"/>
              </a:defRPr>
            </a:pPr>
            <a:r>
              <a:t>☆☆☆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94960" y="1828800"/>
            <a:ext cx="1645920" cy="548640"/>
          </a:xfrm>
          <a:prstGeom prst="rect">
            <a:avLst/>
          </a:prstGeom>
          <a:solidFill>
            <a:srgbClr val="F5F9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94960" y="19202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Microsoft YaHei"/>
              </a:defRPr>
            </a:pPr>
            <a:r>
              <a:t>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1828800"/>
            <a:ext cx="1645920" cy="548640"/>
          </a:xfrm>
          <a:prstGeom prst="rect">
            <a:avLst/>
          </a:prstGeom>
          <a:solidFill>
            <a:srgbClr val="F5F9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0880" y="19202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Microsoft YaHei"/>
              </a:defRPr>
            </a:pPr>
            <a:r>
              <a:t>☆☆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0" y="1828800"/>
            <a:ext cx="1645920" cy="548640"/>
          </a:xfrm>
          <a:prstGeom prst="rect">
            <a:avLst/>
          </a:prstGeom>
          <a:solidFill>
            <a:srgbClr val="F5F9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0" y="19202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D9488"/>
                </a:solidFill>
                <a:latin typeface="Microsoft YaHei"/>
              </a:defRPr>
            </a:pPr>
            <a:r>
              <a:t>☆☆☆☆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2377440"/>
            <a:ext cx="16459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24688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Microsoft YaHei"/>
              </a:defRPr>
            </a:pPr>
            <a:r>
              <a:t>隐私保护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03120" y="2377440"/>
            <a:ext cx="16459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103120" y="24688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Microsoft YaHei"/>
              </a:defRPr>
            </a:pPr>
            <a:r>
              <a:t>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749040" y="2377440"/>
            <a:ext cx="16459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49040" y="24688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Microsoft YaHei"/>
              </a:defRPr>
            </a:pPr>
            <a:r>
              <a:t>☆☆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94960" y="2377440"/>
            <a:ext cx="16459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94960" y="24688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Microsoft YaHei"/>
              </a:defRPr>
            </a:pPr>
            <a:r>
              <a:t>☆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40880" y="2377440"/>
            <a:ext cx="16459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40880" y="24688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Microsoft YaHei"/>
              </a:defRPr>
            </a:pPr>
            <a:r>
              <a:t>☆☆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86800" y="2377440"/>
            <a:ext cx="16459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0" y="24688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D9488"/>
                </a:solidFill>
                <a:latin typeface="Microsoft YaHei"/>
              </a:defRPr>
            </a:pPr>
            <a:r>
              <a:t>☆☆☆☆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2926080"/>
            <a:ext cx="1645920" cy="548640"/>
          </a:xfrm>
          <a:prstGeom prst="rect">
            <a:avLst/>
          </a:prstGeom>
          <a:solidFill>
            <a:srgbClr val="F5F9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30175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Microsoft YaHei"/>
              </a:defRPr>
            </a:pPr>
            <a:r>
              <a:t>国内可用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03120" y="2926080"/>
            <a:ext cx="1645920" cy="548640"/>
          </a:xfrm>
          <a:prstGeom prst="rect">
            <a:avLst/>
          </a:prstGeom>
          <a:solidFill>
            <a:srgbClr val="F5F9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103120" y="30175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Microsoft YaHei"/>
              </a:defRPr>
            </a:pPr>
            <a:r>
              <a:t>☆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749040" y="2926080"/>
            <a:ext cx="1645920" cy="548640"/>
          </a:xfrm>
          <a:prstGeom prst="rect">
            <a:avLst/>
          </a:prstGeom>
          <a:solidFill>
            <a:srgbClr val="F5F9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749040" y="30175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Microsoft YaHei"/>
              </a:defRPr>
            </a:pPr>
            <a:r>
              <a:t>☆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394960" y="2926080"/>
            <a:ext cx="1645920" cy="548640"/>
          </a:xfrm>
          <a:prstGeom prst="rect">
            <a:avLst/>
          </a:prstGeom>
          <a:solidFill>
            <a:srgbClr val="F5F9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394960" y="30175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Microsoft YaHei"/>
              </a:defRPr>
            </a:pPr>
            <a:r>
              <a:t>☆☆☆☆☆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040880" y="2926080"/>
            <a:ext cx="1645920" cy="548640"/>
          </a:xfrm>
          <a:prstGeom prst="rect">
            <a:avLst/>
          </a:prstGeom>
          <a:solidFill>
            <a:srgbClr val="F5F9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040880" y="30175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Microsoft YaHei"/>
              </a:defRPr>
            </a:pPr>
            <a:r>
              <a:t>☆☆☆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686800" y="2926080"/>
            <a:ext cx="1645920" cy="548640"/>
          </a:xfrm>
          <a:prstGeom prst="rect">
            <a:avLst/>
          </a:prstGeom>
          <a:solidFill>
            <a:srgbClr val="F5F9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86800" y="30175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D9488"/>
                </a:solidFill>
                <a:latin typeface="Microsoft YaHei"/>
              </a:defRPr>
            </a:pPr>
            <a:r>
              <a:t>☆☆☆☆☆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" y="3474720"/>
            <a:ext cx="16459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7200" y="35661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Microsoft YaHei"/>
              </a:defRPr>
            </a:pPr>
            <a:r>
              <a:t>中小机构友好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103120" y="3474720"/>
            <a:ext cx="16459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103120" y="35661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Microsoft YaHei"/>
              </a:defRPr>
            </a:pPr>
            <a:r>
              <a:t>☆☆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749040" y="3474720"/>
            <a:ext cx="16459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749040" y="35661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Microsoft YaHei"/>
              </a:defRPr>
            </a:pPr>
            <a:r>
              <a:t>☆☆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394960" y="3474720"/>
            <a:ext cx="16459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394960" y="35661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Microsoft YaHei"/>
              </a:defRPr>
            </a:pPr>
            <a:r>
              <a:t>☆☆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040880" y="3474720"/>
            <a:ext cx="16459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040880" y="35661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Microsoft YaHei"/>
              </a:defRPr>
            </a:pPr>
            <a:r>
              <a:t>☆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686800" y="3474720"/>
            <a:ext cx="16459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686800" y="35661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D9488"/>
                </a:solidFill>
                <a:latin typeface="Microsoft YaHei"/>
              </a:defRPr>
            </a:pPr>
            <a:r>
              <a:t>☆☆☆☆☆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4023360"/>
            <a:ext cx="1645920" cy="548640"/>
          </a:xfrm>
          <a:prstGeom prst="rect">
            <a:avLst/>
          </a:prstGeom>
          <a:solidFill>
            <a:srgbClr val="F5F9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7200" y="41148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Microsoft YaHei"/>
              </a:defRPr>
            </a:pPr>
            <a:r>
              <a:t>产品完整度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103120" y="4023360"/>
            <a:ext cx="1645920" cy="548640"/>
          </a:xfrm>
          <a:prstGeom prst="rect">
            <a:avLst/>
          </a:prstGeom>
          <a:solidFill>
            <a:srgbClr val="F5F9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103120" y="41148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Microsoft YaHei"/>
              </a:defRPr>
            </a:pPr>
            <a:r>
              <a:t>☆☆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749040" y="4023360"/>
            <a:ext cx="1645920" cy="548640"/>
          </a:xfrm>
          <a:prstGeom prst="rect">
            <a:avLst/>
          </a:prstGeom>
          <a:solidFill>
            <a:srgbClr val="F5F9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749040" y="41148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Microsoft YaHei"/>
              </a:defRPr>
            </a:pPr>
            <a:r>
              <a:t>☆☆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394960" y="4023360"/>
            <a:ext cx="1645920" cy="548640"/>
          </a:xfrm>
          <a:prstGeom prst="rect">
            <a:avLst/>
          </a:prstGeom>
          <a:solidFill>
            <a:srgbClr val="F5F9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394960" y="41148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Microsoft YaHei"/>
              </a:defRPr>
            </a:pPr>
            <a:r>
              <a:t>☆☆☆☆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040880" y="4023360"/>
            <a:ext cx="1645920" cy="548640"/>
          </a:xfrm>
          <a:prstGeom prst="rect">
            <a:avLst/>
          </a:prstGeom>
          <a:solidFill>
            <a:srgbClr val="F5F9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040880" y="41148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Microsoft YaHei"/>
              </a:defRPr>
            </a:pPr>
            <a:r>
              <a:t>☆☆☆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686800" y="4023360"/>
            <a:ext cx="1645920" cy="548640"/>
          </a:xfrm>
          <a:prstGeom prst="rect">
            <a:avLst/>
          </a:prstGeom>
          <a:solidFill>
            <a:srgbClr val="F5F9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686800" y="41148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D9488"/>
                </a:solidFill>
                <a:latin typeface="Microsoft YaHei"/>
              </a:defRPr>
            </a:pPr>
            <a:r>
              <a:t>☆☆☆☆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200" y="4572000"/>
            <a:ext cx="16459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57200" y="46634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Microsoft YaHei"/>
              </a:defRPr>
            </a:pPr>
            <a:r>
              <a:t>本地化体验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103120" y="4572000"/>
            <a:ext cx="16459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103120" y="46634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Microsoft YaHei"/>
              </a:defRPr>
            </a:pPr>
            <a:r>
              <a:t>☆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749040" y="4572000"/>
            <a:ext cx="16459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749040" y="46634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Microsoft YaHei"/>
              </a:defRPr>
            </a:pPr>
            <a:r>
              <a:t>☆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394960" y="4572000"/>
            <a:ext cx="16459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394960" y="46634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Microsoft YaHei"/>
              </a:defRPr>
            </a:pPr>
            <a:r>
              <a:t>☆☆☆☆☆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040880" y="4572000"/>
            <a:ext cx="16459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040880" y="46634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Microsoft YaHei"/>
              </a:defRPr>
            </a:pPr>
            <a:r>
              <a:t>☆☆☆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686800" y="4572000"/>
            <a:ext cx="16459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686800" y="46634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D9488"/>
                </a:solidFill>
                <a:latin typeface="Microsoft YaHei"/>
              </a:defRPr>
            </a:pPr>
            <a:r>
              <a:t>☆☆☆☆☆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57200" y="4754880"/>
            <a:ext cx="11247120" cy="1828800"/>
          </a:xfrm>
          <a:prstGeom prst="rect">
            <a:avLst/>
          </a:prstGeom>
          <a:solidFill>
            <a:srgbClr val="1340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31520" y="48463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A623"/>
                </a:solidFill>
                <a:latin typeface="Microsoft YaHei"/>
              </a:defRPr>
            </a:pPr>
            <a:r>
              <a:t>TraceAid 差异化优势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31520" y="530352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•  完整的B端+C端双端产品体系，覆盖公益全流程</a:t>
            </a:r>
          </a:p>
          <a:p>
            <a:pPr algn="l">
              <a:spcAft>
                <a:spcPts val="52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•  零知识证明隐私核验流程已完整产品化，非概念演示</a:t>
            </a:r>
          </a:p>
          <a:p>
            <a:pPr algn="l">
              <a:spcAft>
                <a:spcPts val="52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•  面向中小机构的轻量级SaaS方案，即开即用，无需技术团队</a:t>
            </a:r>
          </a:p>
          <a:p>
            <a:pPr algn="l">
              <a:spcAft>
                <a:spcPts val="52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•  中文原生体验，深度适配国内公益行业生态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3403B"/>
                </a:solidFill>
                <a:latin typeface="Microsoft YaHei"/>
              </a:defRPr>
            </a:pPr>
            <a:r>
              <a:t>商业模式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2651760" cy="1828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💰 SaaS订阅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年费24,000元起</a:t>
            </a:r>
          </a:p>
          <a:p>
            <a:pPr algn="l">
              <a:spcAft>
                <a:spcPts val="52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按机构规模阶梯定价</a:t>
            </a:r>
          </a:p>
        </p:txBody>
      </p:sp>
      <p:sp>
        <p:nvSpPr>
          <p:cNvPr id="6" name="Rectangle 5"/>
          <p:cNvSpPr/>
          <p:nvPr/>
        </p:nvSpPr>
        <p:spPr>
          <a:xfrm>
            <a:off x="3383280" y="1188720"/>
            <a:ext cx="2651760" cy="1828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6160" y="1280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⛓ 链上Gas费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73736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TAC Token铸造</a:t>
            </a:r>
          </a:p>
          <a:p>
            <a:pPr algn="l">
              <a:spcAft>
                <a:spcPts val="52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与交易手续费分成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188720"/>
            <a:ext cx="2651760" cy="1828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280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📊 增值服务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数据分析报告</a:t>
            </a:r>
          </a:p>
          <a:p>
            <a:pPr algn="l">
              <a:spcAft>
                <a:spcPts val="52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定制化功能开发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35440" y="1188720"/>
            <a:ext cx="2651760" cy="1828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0" y="1280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🏆 政府补贴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0" y="173736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公益数字化专项</a:t>
            </a:r>
          </a:p>
          <a:p>
            <a:pPr algn="l">
              <a:spcAft>
                <a:spcPts val="52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财政补贴申报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291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3403B"/>
                </a:solidFill>
                <a:latin typeface="Microsoft YaHei"/>
              </a:defRPr>
            </a:pPr>
            <a:r>
              <a:t>定价方案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840480"/>
            <a:ext cx="1828800" cy="384048"/>
          </a:xfrm>
          <a:prstGeom prst="rect">
            <a:avLst/>
          </a:prstGeom>
          <a:solidFill>
            <a:srgbClr val="1340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886200"/>
            <a:ext cx="164592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方案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0" y="3840480"/>
            <a:ext cx="2560320" cy="384048"/>
          </a:xfrm>
          <a:prstGeom prst="rect">
            <a:avLst/>
          </a:prstGeom>
          <a:solidFill>
            <a:srgbClr val="1340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77440" y="3886200"/>
            <a:ext cx="23774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基础版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46320" y="3840480"/>
            <a:ext cx="2560320" cy="384048"/>
          </a:xfrm>
          <a:prstGeom prst="rect">
            <a:avLst/>
          </a:prstGeom>
          <a:solidFill>
            <a:srgbClr val="1340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37760" y="3886200"/>
            <a:ext cx="23774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专业版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06640" y="3840480"/>
            <a:ext cx="2560320" cy="384048"/>
          </a:xfrm>
          <a:prstGeom prst="rect">
            <a:avLst/>
          </a:prstGeom>
          <a:solidFill>
            <a:srgbClr val="1340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0" y="3886200"/>
            <a:ext cx="23774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企业版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224528"/>
            <a:ext cx="1828800" cy="384048"/>
          </a:xfrm>
          <a:prstGeom prst="rect">
            <a:avLst/>
          </a:prstGeom>
          <a:solidFill>
            <a:srgbClr val="F5F9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4261104"/>
            <a:ext cx="164592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D9488"/>
                </a:solidFill>
                <a:latin typeface="Microsoft YaHei"/>
              </a:defRPr>
            </a:pPr>
            <a:r>
              <a:t>年费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86000" y="4224528"/>
            <a:ext cx="2560320" cy="384048"/>
          </a:xfrm>
          <a:prstGeom prst="rect">
            <a:avLst/>
          </a:prstGeom>
          <a:solidFill>
            <a:srgbClr val="F5F9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77440" y="4261104"/>
            <a:ext cx="23774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Microsoft YaHei"/>
              </a:defRPr>
            </a:pPr>
            <a:r>
              <a:t>¥24,000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46320" y="4224528"/>
            <a:ext cx="2560320" cy="384048"/>
          </a:xfrm>
          <a:prstGeom prst="rect">
            <a:avLst/>
          </a:prstGeom>
          <a:solidFill>
            <a:srgbClr val="F5F9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37760" y="4261104"/>
            <a:ext cx="23774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Microsoft YaHei"/>
              </a:defRPr>
            </a:pPr>
            <a:r>
              <a:t>¥48,000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06640" y="4224528"/>
            <a:ext cx="2560320" cy="384048"/>
          </a:xfrm>
          <a:prstGeom prst="rect">
            <a:avLst/>
          </a:prstGeom>
          <a:solidFill>
            <a:srgbClr val="F5F9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0" y="4261104"/>
            <a:ext cx="23774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Microsoft YaHei"/>
              </a:defRPr>
            </a:pPr>
            <a:r>
              <a:t>¥96,000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608576"/>
            <a:ext cx="18288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645152"/>
            <a:ext cx="164592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D9488"/>
                </a:solidFill>
                <a:latin typeface="Microsoft YaHei"/>
              </a:defRPr>
            </a:pPr>
            <a:r>
              <a:t>机构规模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86000" y="4608576"/>
            <a:ext cx="25603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377440" y="4645152"/>
            <a:ext cx="23774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Microsoft YaHei"/>
              </a:defRPr>
            </a:pPr>
            <a:r>
              <a:t>年筹款≤1000万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46320" y="4608576"/>
            <a:ext cx="25603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37760" y="4645152"/>
            <a:ext cx="23774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Microsoft YaHei"/>
              </a:defRPr>
            </a:pPr>
            <a:r>
              <a:t>年筹款1000万-5000万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06640" y="4608576"/>
            <a:ext cx="25603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80" y="4645152"/>
            <a:ext cx="23774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Microsoft YaHei"/>
              </a:defRPr>
            </a:pPr>
            <a:r>
              <a:t>年筹款≥5000万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4992624"/>
            <a:ext cx="1828800" cy="384048"/>
          </a:xfrm>
          <a:prstGeom prst="rect">
            <a:avLst/>
          </a:prstGeom>
          <a:solidFill>
            <a:srgbClr val="F5F9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5029200"/>
            <a:ext cx="164592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D9488"/>
                </a:solidFill>
                <a:latin typeface="Microsoft YaHei"/>
              </a:defRPr>
            </a:pPr>
            <a:r>
              <a:t>用户账号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286000" y="4992624"/>
            <a:ext cx="2560320" cy="384048"/>
          </a:xfrm>
          <a:prstGeom prst="rect">
            <a:avLst/>
          </a:prstGeom>
          <a:solidFill>
            <a:srgbClr val="F5F9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377440" y="5029200"/>
            <a:ext cx="23774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Microsoft YaHei"/>
              </a:defRPr>
            </a:pPr>
            <a:r>
              <a:t>5个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846320" y="4992624"/>
            <a:ext cx="2560320" cy="384048"/>
          </a:xfrm>
          <a:prstGeom prst="rect">
            <a:avLst/>
          </a:prstGeom>
          <a:solidFill>
            <a:srgbClr val="F5F9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937760" y="5029200"/>
            <a:ext cx="23774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Microsoft YaHei"/>
              </a:defRPr>
            </a:pPr>
            <a:r>
              <a:t>15个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406640" y="4992624"/>
            <a:ext cx="2560320" cy="384048"/>
          </a:xfrm>
          <a:prstGeom prst="rect">
            <a:avLst/>
          </a:prstGeom>
          <a:solidFill>
            <a:srgbClr val="F5F9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498080" y="5029200"/>
            <a:ext cx="23774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Microsoft YaHei"/>
              </a:defRPr>
            </a:pPr>
            <a:r>
              <a:t>不限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5376672"/>
            <a:ext cx="18288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8640" y="5413248"/>
            <a:ext cx="164592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D9488"/>
                </a:solidFill>
                <a:latin typeface="Microsoft YaHei"/>
              </a:defRPr>
            </a:pPr>
            <a:r>
              <a:t>区块链支持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286000" y="5376672"/>
            <a:ext cx="25603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377440" y="5413248"/>
            <a:ext cx="23774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Microsoft YaHei"/>
              </a:defRPr>
            </a:pPr>
            <a:r>
              <a:t>基础链上记账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846320" y="5376672"/>
            <a:ext cx="25603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37760" y="5413248"/>
            <a:ext cx="23774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Microsoft YaHei"/>
              </a:defRPr>
            </a:pPr>
            <a:r>
              <a:t>ZK核验 + 多签审批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406640" y="5376672"/>
            <a:ext cx="25603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498080" y="5413248"/>
            <a:ext cx="23774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Microsoft YaHei"/>
              </a:defRPr>
            </a:pPr>
            <a:r>
              <a:t>全功能 + 定制化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" y="5760720"/>
            <a:ext cx="1828800" cy="384048"/>
          </a:xfrm>
          <a:prstGeom prst="rect">
            <a:avLst/>
          </a:prstGeom>
          <a:solidFill>
            <a:srgbClr val="F5F9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" y="5797296"/>
            <a:ext cx="164592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D9488"/>
                </a:solidFill>
                <a:latin typeface="Microsoft YaHei"/>
              </a:defRPr>
            </a:pPr>
            <a:r>
              <a:t>数据导出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286000" y="5760720"/>
            <a:ext cx="2560320" cy="384048"/>
          </a:xfrm>
          <a:prstGeom prst="rect">
            <a:avLst/>
          </a:prstGeom>
          <a:solidFill>
            <a:srgbClr val="F5F9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377440" y="5797296"/>
            <a:ext cx="23774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Microsoft YaHei"/>
              </a:defRPr>
            </a:pPr>
            <a:r>
              <a:t>基础报表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46320" y="5760720"/>
            <a:ext cx="2560320" cy="384048"/>
          </a:xfrm>
          <a:prstGeom prst="rect">
            <a:avLst/>
          </a:prstGeom>
          <a:solidFill>
            <a:srgbClr val="F5F9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37760" y="5797296"/>
            <a:ext cx="23774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Microsoft YaHei"/>
              </a:defRPr>
            </a:pPr>
            <a:r>
              <a:t>高级分析报告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406640" y="5760720"/>
            <a:ext cx="2560320" cy="384048"/>
          </a:xfrm>
          <a:prstGeom prst="rect">
            <a:avLst/>
          </a:prstGeom>
          <a:solidFill>
            <a:srgbClr val="F5F9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98080" y="5797296"/>
            <a:ext cx="23774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Microsoft YaHei"/>
              </a:defRPr>
            </a:pPr>
            <a:r>
              <a:t>API开放接口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" y="6144768"/>
            <a:ext cx="18288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48640" y="6181344"/>
            <a:ext cx="164592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D9488"/>
                </a:solidFill>
                <a:latin typeface="Microsoft YaHei"/>
              </a:defRPr>
            </a:pPr>
            <a:r>
              <a:t>技术支持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286000" y="6144768"/>
            <a:ext cx="25603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377440" y="6181344"/>
            <a:ext cx="23774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Microsoft YaHei"/>
              </a:defRPr>
            </a:pPr>
            <a:r>
              <a:t>邮件支持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846320" y="6144768"/>
            <a:ext cx="25603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37760" y="6181344"/>
            <a:ext cx="23774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Microsoft YaHei"/>
              </a:defRPr>
            </a:pPr>
            <a:r>
              <a:t>专属客服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406640" y="6144768"/>
            <a:ext cx="25603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498080" y="6181344"/>
            <a:ext cx="23774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Microsoft YaHei"/>
              </a:defRPr>
            </a:pPr>
            <a:r>
              <a:t>7×24 + 驻场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3403B"/>
                </a:solidFill>
                <a:latin typeface="Microsoft YaHei"/>
              </a:defRPr>
            </a:pPr>
            <a:r>
              <a:t>融资规划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5303520" cy="5303520"/>
          </a:xfrm>
          <a:prstGeom prst="rect">
            <a:avLst/>
          </a:prstGeom>
          <a:solidFill>
            <a:srgbClr val="1340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5A623"/>
                </a:solidFill>
                <a:latin typeface="Microsoft YaHei"/>
              </a:defRPr>
            </a:pPr>
            <a:r>
              <a:t>本轮融资需求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融资轮次：天使轮</a:t>
            </a:r>
          </a:p>
          <a:p>
            <a:pPr algn="l">
              <a:spcAft>
                <a:spcPts val="52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目标金额：300 万元</a:t>
            </a:r>
          </a:p>
          <a:p>
            <a:pPr algn="l">
              <a:spcAft>
                <a:spcPts val="52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出让股份：10% - 15%</a:t>
            </a:r>
          </a:p>
          <a:p>
            <a:pPr algn="l">
              <a:spcAft>
                <a:spcPts val="52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Aft>
                <a:spcPts val="52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资金用途：</a:t>
            </a:r>
          </a:p>
          <a:p>
            <a:pPr algn="l">
              <a:spcAft>
                <a:spcPts val="52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  •  产品开发       40%  (120万)</a:t>
            </a:r>
          </a:p>
          <a:p>
            <a:pPr algn="l">
              <a:spcAft>
                <a:spcPts val="52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  •  市场拓展       30%  (90万)</a:t>
            </a:r>
          </a:p>
          <a:p>
            <a:pPr algn="l">
              <a:spcAft>
                <a:spcPts val="52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  •  合规认证       15%  (45万)</a:t>
            </a:r>
          </a:p>
          <a:p>
            <a:pPr algn="l">
              <a:spcAft>
                <a:spcPts val="52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  •  团队建设       15%  (45万)</a:t>
            </a:r>
          </a:p>
          <a:p>
            <a:pPr algn="l">
              <a:spcAft>
                <a:spcPts val="52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Aft>
                <a:spcPts val="52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预计里程碑：</a:t>
            </a:r>
          </a:p>
          <a:p>
            <a:pPr algn="l">
              <a:spcAft>
                <a:spcPts val="52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  M6:  签约10家机构</a:t>
            </a:r>
          </a:p>
          <a:p>
            <a:pPr algn="l">
              <a:spcAft>
                <a:spcPts val="52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  M12: 处理捐赠额1亿元</a:t>
            </a:r>
          </a:p>
          <a:p>
            <a:pPr algn="l">
              <a:spcAft>
                <a:spcPts val="52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  M24: 实现盈亏平衡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188720"/>
            <a:ext cx="5486400" cy="2286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团队优势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9202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•  创始团队兼具区块链技术与公益行业背景</a:t>
            </a:r>
          </a:p>
          <a:p>
            <a:pPr algn="l">
              <a:spcAft>
                <a:spcPts val="52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•  已获 Chainlink Fundamentals 认证</a:t>
            </a:r>
          </a:p>
          <a:p>
            <a:pPr algn="l">
              <a:spcAft>
                <a:spcPts val="52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•  与前海数据等机构达成合作意向</a:t>
            </a:r>
          </a:p>
          <a:p>
            <a:pPr algn="l">
              <a:spcAft>
                <a:spcPts val="52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•  MVP 产品已上线，获得初期用户反馈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3749039"/>
            <a:ext cx="5486400" cy="2743200"/>
          </a:xfrm>
          <a:prstGeom prst="rect">
            <a:avLst/>
          </a:prstGeom>
          <a:solidFill>
            <a:srgbClr val="F5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39319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D9488"/>
                </a:solidFill>
                <a:latin typeface="Microsoft YaHei"/>
              </a:defRPr>
            </a:pPr>
            <a:r>
              <a:t>投资回报预期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43891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  <a:defRPr sz="1300">
                <a:solidFill>
                  <a:srgbClr val="1A1A2E"/>
                </a:solidFill>
                <a:latin typeface="Microsoft YaHei"/>
              </a:defRPr>
            </a:pPr>
            <a:r>
              <a:t>▸ 3年目标ARR：500万元</a:t>
            </a:r>
          </a:p>
          <a:p>
            <a:pPr algn="l">
              <a:spcAft>
                <a:spcPts val="520"/>
              </a:spcAft>
              <a:defRPr sz="1300">
                <a:solidFill>
                  <a:srgbClr val="1A1A2E"/>
                </a:solidFill>
                <a:latin typeface="Microsoft YaHei"/>
              </a:defRPr>
            </a:pPr>
            <a:r>
              <a:t>▸ 预计毛利率：65%-70%</a:t>
            </a:r>
          </a:p>
          <a:p>
            <a:pPr algn="l">
              <a:spcAft>
                <a:spcPts val="520"/>
              </a:spcAft>
              <a:defRPr sz="1300">
                <a:solidFill>
                  <a:srgbClr val="1A1A2E"/>
                </a:solidFill>
                <a:latin typeface="Microsoft YaHei"/>
              </a:defRPr>
            </a:pPr>
            <a:r>
              <a:t>▸ 客户生命周期价值(LTV)：15万元</a:t>
            </a:r>
          </a:p>
          <a:p>
            <a:pPr algn="l">
              <a:spcAft>
                <a:spcPts val="520"/>
              </a:spcAft>
              <a:defRPr sz="1300">
                <a:solidFill>
                  <a:srgbClr val="1A1A2E"/>
                </a:solidFill>
                <a:latin typeface="Microsoft YaHei"/>
              </a:defRPr>
            </a:pPr>
            <a:r>
              <a:t>▸ 客户获取成本(CAC)：1.5万元</a:t>
            </a:r>
          </a:p>
          <a:p>
            <a:pPr algn="l">
              <a:spcAft>
                <a:spcPts val="520"/>
              </a:spcAft>
              <a:defRPr sz="1300">
                <a:solidFill>
                  <a:srgbClr val="1A1A2E"/>
                </a:solidFill>
                <a:latin typeface="Microsoft YaHei"/>
              </a:defRPr>
            </a:pPr>
            <a:r>
              <a:t>▸ LTV/CAC 比值：10x</a:t>
            </a:r>
          </a:p>
          <a:p>
            <a:pPr algn="l">
              <a:spcAft>
                <a:spcPts val="520"/>
              </a:spcAft>
              <a:defRPr sz="1300">
                <a:solidFill>
                  <a:srgbClr val="1A1A2E"/>
                </a:solidFill>
                <a:latin typeface="Microsoft YaHei"/>
              </a:defRPr>
            </a:pPr>
            <a:r>
              <a:t>▸ 预计B轮估值：3000-5000万元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40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381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Microsoft YaHei"/>
              </a:defRPr>
            </a:pPr>
            <a:r>
              <a:t>感谢聆听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5A623"/>
                </a:solidFill>
                <a:latin typeface="Microsoft YaHei"/>
              </a:defRPr>
            </a:pPr>
            <a:r>
              <a:t>期待与您携手，让每一份善意都有迹可循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40"/>
              </a:spcAft>
              <a:defRPr sz="1600">
                <a:solidFill>
                  <a:srgbClr val="AABBCC"/>
                </a:solidFill>
                <a:latin typeface="Microsoft YaHei"/>
              </a:defRPr>
            </a:pPr>
            <a:r>
              <a:t>TraceAid 链善  |  公益资金透明化管理平台</a:t>
            </a:r>
          </a:p>
          <a:p>
            <a:pPr algn="ctr">
              <a:spcAft>
                <a:spcPts val="640"/>
              </a:spcAft>
              <a:defRPr sz="1600">
                <a:solidFill>
                  <a:srgbClr val="AABBCC"/>
                </a:solidFill>
                <a:latin typeface="Microsoft YaHei"/>
              </a:defRPr>
            </a:pPr>
            <a:r>
              <a:t>GitHub: github.com/Artyom070518/TraceAid</a:t>
            </a:r>
          </a:p>
          <a:p>
            <a:pPr algn="ctr">
              <a:spcAft>
                <a:spcPts val="640"/>
              </a:spcAft>
              <a:defRPr sz="1600">
                <a:solidFill>
                  <a:srgbClr val="AABBCC"/>
                </a:solidFill>
                <a:latin typeface="Microsoft YaHei"/>
              </a:defRPr>
            </a:pPr>
            <a:r>
              <a:t>在线预览: B端管理后台 / C端用户界面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